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8" r:id="rId5"/>
    <p:sldId id="269" r:id="rId6"/>
    <p:sldId id="270" r:id="rId7"/>
    <p:sldId id="277" r:id="rId8"/>
    <p:sldId id="275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891E"/>
    <a:srgbClr val="FF7B00"/>
    <a:srgbClr val="9B55F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6"/>
  </p:normalViewPr>
  <p:slideViewPr>
    <p:cSldViewPr snapToGrid="0">
      <p:cViewPr varScale="1">
        <p:scale>
          <a:sx n="106" d="100"/>
          <a:sy n="106" d="100"/>
        </p:scale>
        <p:origin x="7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158E-2853-5EEF-05A7-9735D8F80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9827F2-E3F8-9087-D6E5-2BCF0418B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3BCBE-D5E4-9166-A839-43BE1A72A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EE042-9963-DB44-BE49-EEE8CE2C15BA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347F4-336F-C200-0587-202C84704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F453D-491D-BF5C-CFBA-F01B4BF0C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0DDD-9A60-D642-8AEE-8A7730CC6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12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964E4-FFB5-6F21-E834-519227296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7B73B-129B-00D6-FB1E-5A93E078E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3096A-9FCC-2F8D-C285-62CB0B7BE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EE042-9963-DB44-BE49-EEE8CE2C15BA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CF2AB-C613-EBE5-46DA-C5D6708DE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3018C-A830-97FA-A1B7-D0A841A40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0DDD-9A60-D642-8AEE-8A7730CC6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11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03101-1B18-51D6-B037-AE6D0E71F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8E911E-7EF9-BB00-4C12-151072A9E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A4572-7039-95CC-C3CB-9C75F77CB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EE042-9963-DB44-BE49-EEE8CE2C15BA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AD9B-DD47-3B2C-7E9A-3DB0E0DC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04810-C6B0-F1E3-336D-D46B6C2F4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0DDD-9A60-D642-8AEE-8A7730CC6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57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E4E5-4596-6153-B7F8-8FC977A8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1E5FD-F58E-AA4D-FFD1-D53919AB5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A58CA-EECF-B521-385E-47897C310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ABD2E-DFC8-50DC-E223-03819B08A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EE042-9963-DB44-BE49-EEE8CE2C15BA}" type="datetimeFigureOut">
              <a:rPr lang="en-US" smtClean="0"/>
              <a:t>4/24/24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C8AEC-854F-4F7A-36DC-21E304B37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6B50A-A3C0-5580-3A96-E5DBF426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0DDD-9A60-D642-8AEE-8A7730CC6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76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20DA0-2687-1955-AF7B-482109CAB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8E4A6-E8CE-6DD8-D9B1-4B09AB933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E9A21-93B5-6A56-37D8-3D47A86AC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647CF-3E5B-FF25-8566-2A5077A83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BBD39E-6C4C-2287-E50C-18F45494C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03D8C2-236E-B4A8-ADF5-D2524BA11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EE042-9963-DB44-BE49-EEE8CE2C15BA}" type="datetimeFigureOut">
              <a:rPr lang="en-US" smtClean="0"/>
              <a:t>4/24/24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48DE75-09F4-5AFA-243F-81C0E10F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C03F73-CADA-FEA4-37C9-9E6A4105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0DDD-9A60-D642-8AEE-8A7730CC6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17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7A04-DA33-6A5C-706B-542FDCA3F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54EC40-3F4C-3258-FECB-DFE09A18B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EE042-9963-DB44-BE49-EEE8CE2C15BA}" type="datetimeFigureOut">
              <a:rPr lang="en-US" smtClean="0"/>
              <a:t>4/24/24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B3F40-969C-A67D-613B-6824E9309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1118C-450D-CF3A-5FF3-D041B4E0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0DDD-9A60-D642-8AEE-8A7730CC6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78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547C82-B416-4C18-3230-C314CAE12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EE042-9963-DB44-BE49-EEE8CE2C15BA}" type="datetimeFigureOut">
              <a:rPr lang="en-US" smtClean="0"/>
              <a:t>4/24/24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F4A105-DE5B-FB7C-FEF3-A892F480A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D2DA4-2BBE-D8C6-8416-0F59D75F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0DDD-9A60-D642-8AEE-8A7730CC6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6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F957A-E391-3AE6-CAA1-2E83DE87D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518B0-EC76-3051-E37D-22D780517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DBE96-F287-B920-B6C2-A7B1051D9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780CD-35B0-4FD4-4A6B-C2C01324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EE042-9963-DB44-BE49-EEE8CE2C15BA}" type="datetimeFigureOut">
              <a:rPr lang="en-US" smtClean="0"/>
              <a:t>4/24/24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F5345-9950-C224-9DC7-4F5D08C96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FD4DD-3E8C-BDB9-6466-2D49E864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0DDD-9A60-D642-8AEE-8A7730CC6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37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C0028-3CBB-E1E7-D4A6-CC5DA0E0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514D6A-E54F-87D7-2392-A519C4C819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21B75-AAED-3504-57DE-E6911BBBC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61BC8-6195-825F-8953-F9390DC51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EE042-9963-DB44-BE49-EEE8CE2C15BA}" type="datetimeFigureOut">
              <a:rPr lang="en-US" smtClean="0"/>
              <a:t>4/24/24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E7D08-2C8D-4718-80C6-9C8F079D2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EE175-D8A7-B370-4A14-636F0A9BE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0DDD-9A60-D642-8AEE-8A7730CC6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5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00D3E-EA2C-56A0-CF7C-6BE933856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B7F6F-F8E2-9A1A-8A91-511D8E17D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D6BBE-59F5-0BEE-2085-644764D83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EE042-9963-DB44-BE49-EEE8CE2C15BA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80E6C-D8B2-EB68-7FDF-B2BB4865F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B48DA-A134-D764-C169-32804B7F4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0DDD-9A60-D642-8AEE-8A7730CC6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59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32359-81DB-6884-D48B-2896DDFB3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69D05D-3875-7E34-DE51-9CE239126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6D8BA-EC89-A3A0-DF3B-426D72629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EE042-9963-DB44-BE49-EEE8CE2C15BA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43C2C-3EEB-345E-123F-ABAB24522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B410A-0683-A524-35BE-470E988E7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0DDD-9A60-D642-8AEE-8A7730CC6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3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002542-860C-F016-49B2-55EC36BEC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730D6-691F-373B-5510-D2AC8814C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E45A0-8369-FF05-2768-6EA905B863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EE042-9963-DB44-BE49-EEE8CE2C15BA}" type="datetimeFigureOut">
              <a:rPr lang="en-US" smtClean="0"/>
              <a:t>4/24/24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4F13E-1C3F-DEBF-E356-AD4E90AFC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2A73A-3A06-A8AE-A541-40B88F562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F0DDD-9A60-D642-8AEE-8A7730CC6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48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3950-BB91-A56C-84B3-A8FAA3C777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Profiling &amp; </a:t>
            </a:r>
            <a:r>
              <a:rPr lang="en-US" dirty="0" err="1">
                <a:latin typeface="+mn-lt"/>
              </a:rPr>
              <a:t>Assesment</a:t>
            </a:r>
            <a:endParaRPr lang="en-US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FB7EC-E262-177E-F344-5F2211A4B9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Online</a:t>
            </a:r>
          </a:p>
        </p:txBody>
      </p:sp>
    </p:spTree>
    <p:extLst>
      <p:ext uri="{BB962C8B-B14F-4D97-AF65-F5344CB8AC3E}">
        <p14:creationId xmlns:p14="http://schemas.microsoft.com/office/powerpoint/2010/main" val="2556081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9E012-947B-4423-1561-E6C1E8CF8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84651"/>
            <a:ext cx="10515600" cy="1325563"/>
          </a:xfrm>
        </p:spPr>
        <p:txBody>
          <a:bodyPr/>
          <a:lstStyle/>
          <a:p>
            <a:r>
              <a:rPr lang="en-US" b="1" dirty="0"/>
              <a:t>Profiling </a:t>
            </a:r>
            <a:r>
              <a:rPr lang="en-US" b="1" dirty="0" err="1"/>
              <a:t>Potensi</a:t>
            </a:r>
            <a:r>
              <a:rPr lang="en-US" b="1" dirty="0"/>
              <a:t> </a:t>
            </a:r>
            <a:r>
              <a:rPr lang="en-US" b="1" dirty="0" err="1"/>
              <a:t>Minat</a:t>
            </a:r>
            <a:r>
              <a:rPr lang="en-US" b="1" dirty="0"/>
              <a:t> &amp; </a:t>
            </a:r>
            <a:r>
              <a:rPr lang="en-US" b="1" dirty="0" err="1"/>
              <a:t>Bakat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B6EA1-2BC1-33A9-A67D-8ED7AD9717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23827"/>
            <a:ext cx="5181600" cy="500513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SG" sz="1200" b="1" dirty="0" err="1">
                <a:effectLst/>
                <a:ea typeface="Calibri" panose="020F0502020204030204" pitchFamily="34" charset="0"/>
              </a:rPr>
              <a:t>Tujuan</a:t>
            </a:r>
            <a:r>
              <a:rPr lang="en-SG" sz="1200" b="1" dirty="0">
                <a:effectLst/>
                <a:ea typeface="Calibri" panose="020F0502020204030204" pitchFamily="34" charset="0"/>
              </a:rPr>
              <a:t> Profiling </a:t>
            </a:r>
            <a:r>
              <a:rPr lang="en-SG" sz="1200" b="1" dirty="0" err="1">
                <a:effectLst/>
                <a:ea typeface="Calibri" panose="020F0502020204030204" pitchFamily="34" charset="0"/>
              </a:rPr>
              <a:t>Potensi</a:t>
            </a:r>
            <a:r>
              <a:rPr lang="en-SG" sz="1200" b="1" dirty="0">
                <a:effectLst/>
                <a:ea typeface="Calibri" panose="020F0502020204030204" pitchFamily="34" charset="0"/>
              </a:rPr>
              <a:t> </a:t>
            </a:r>
            <a:r>
              <a:rPr lang="en-SG" sz="1200" b="1" dirty="0" err="1">
                <a:effectLst/>
                <a:ea typeface="Calibri" panose="020F0502020204030204" pitchFamily="34" charset="0"/>
              </a:rPr>
              <a:t>Minat</a:t>
            </a:r>
            <a:r>
              <a:rPr lang="en-SG" sz="1200" b="1" dirty="0">
                <a:effectLst/>
                <a:ea typeface="Calibri" panose="020F0502020204030204" pitchFamily="34" charset="0"/>
              </a:rPr>
              <a:t> &amp; </a:t>
            </a:r>
            <a:r>
              <a:rPr lang="en-SG" sz="1200" b="1" dirty="0" err="1">
                <a:effectLst/>
                <a:ea typeface="Calibri" panose="020F0502020204030204" pitchFamily="34" charset="0"/>
              </a:rPr>
              <a:t>Bakat</a:t>
            </a:r>
            <a:r>
              <a:rPr lang="en-SG" sz="1200" b="1" dirty="0">
                <a:effectLst/>
                <a:ea typeface="Calibri" panose="020F0502020204030204" pitchFamily="34" charset="0"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untuk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 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mengukur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minat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dan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bakat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siswa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itu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sendiri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, agar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dalam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penyesuaian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jenjang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karir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yang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akan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dipilih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sesuai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dengan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minat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dan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bakatnya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.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Sehingga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siswa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benar-benar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mampu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memaksimalkan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potensi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dirinya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Tujuan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lainnya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yaitu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setelah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tamat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sekolah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siswa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dapat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memilih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jurusan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sesuai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dengan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minat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bakatnya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Tes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Bakat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 Holland-RIASEC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adalah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 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  <a:latin typeface="Google Sans"/>
              </a:rPr>
              <a:t>alat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 yang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  <a:latin typeface="Google Sans"/>
              </a:rPr>
              <a:t>berguna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  <a:latin typeface="Google Sans"/>
              </a:rPr>
              <a:t>untuk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  <a:latin typeface="Google Sans"/>
              </a:rPr>
              <a:t>membantu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  <a:latin typeface="Google Sans"/>
              </a:rPr>
              <a:t>individu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  <a:latin typeface="Google Sans"/>
              </a:rPr>
              <a:t>memahami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  <a:latin typeface="Google Sans"/>
              </a:rPr>
              <a:t>minat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 dan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  <a:latin typeface="Google Sans"/>
              </a:rPr>
              <a:t>bakat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  <a:latin typeface="Google Sans"/>
              </a:rPr>
              <a:t>mereka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  <a:latin typeface="Google Sans"/>
              </a:rPr>
              <a:t>dalam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  <a:latin typeface="Google Sans"/>
              </a:rPr>
              <a:t>berbagai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  <a:latin typeface="Google Sans"/>
              </a:rPr>
              <a:t>bidang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  <a:latin typeface="Google Sans"/>
              </a:rPr>
              <a:t>pekerjaan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Dengan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memahami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tipe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kepribadian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 RIASEC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mereka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,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individu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dapat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membuat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keputusan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 yang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lebih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baik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tentang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karier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 dan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pengembangan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profesional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  <a:latin typeface="Google Sans"/>
              </a:rPr>
              <a:t>mereka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  <a:latin typeface="Google Sans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SG" sz="12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SG" sz="12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Landasan</a:t>
            </a:r>
            <a:r>
              <a:rPr lang="en-SG" sz="12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SG" sz="12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Teori</a:t>
            </a:r>
            <a:r>
              <a:rPr lang="en-SG" sz="12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SG" sz="12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Tipologi</a:t>
            </a:r>
            <a:r>
              <a:rPr lang="en-SG" sz="12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SG" sz="1200" b="1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Karir</a:t>
            </a:r>
            <a:r>
              <a:rPr lang="en-SG" sz="12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Holland.</a:t>
            </a:r>
            <a:endParaRPr lang="en-ID" sz="1200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D" sz="1200" dirty="0" err="1">
                <a:solidFill>
                  <a:srgbClr val="474747"/>
                </a:solidFill>
              </a:rPr>
              <a:t>Dalam</a:t>
            </a:r>
            <a:r>
              <a:rPr lang="en-ID" sz="1200" dirty="0">
                <a:solidFill>
                  <a:srgbClr val="474747"/>
                </a:solidFill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Teori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Tipologi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Karir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Holland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menjelaskan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Perilaku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Vokasional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yang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dibangun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atas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keterkaitan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atau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kecocokan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antara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tipe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kepribadian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individu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dan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pemilihan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karir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040C28"/>
                </a:solidFill>
                <a:effectLst/>
              </a:rPr>
              <a:t>tertentu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Intinya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pemilihan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dan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penyesuaian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karir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merupakan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gambaran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dari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kepribadian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seseorang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D" sz="1200" dirty="0">
              <a:effectLst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A7A8B-253B-291C-D287-5FBD81ED2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4547" y="1534278"/>
            <a:ext cx="5301918" cy="459606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Teori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pilihan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karir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( Holland, </a:t>
            </a:r>
            <a:r>
              <a:rPr lang="en-ID" sz="1200" b="0" i="0" u="none" strike="noStrike" dirty="0">
                <a:solidFill>
                  <a:srgbClr val="040C28"/>
                </a:solidFill>
                <a:effectLst/>
              </a:rPr>
              <a:t>1997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 ) dan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teori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kesesuaian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orang-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lingkungan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( Judge &amp; Kristof-Brown, 2004 )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menetapkan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bahwa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individu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memilih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karir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dan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lingkungan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kerja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yang paling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sesuai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dengan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nilai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,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kebutuhan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, dan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kepribadian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474747"/>
                </a:solidFill>
                <a:effectLst/>
              </a:rPr>
              <a:t>mereka</a:t>
            </a:r>
            <a:r>
              <a:rPr lang="en-ID" sz="1200" b="0" i="0" u="none" strike="noStrike" dirty="0">
                <a:solidFill>
                  <a:srgbClr val="474747"/>
                </a:solidFill>
                <a:effectLst/>
              </a:rPr>
              <a:t>.</a:t>
            </a:r>
            <a:endParaRPr lang="en-ID" sz="1200" dirty="0">
              <a:effectLst/>
            </a:endParaRPr>
          </a:p>
          <a:p>
            <a:pPr marL="0" indent="0" algn="just">
              <a:buNone/>
            </a:pP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Konsep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dasar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teori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kepribadian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menurut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John Holland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merupakan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hasil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dari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keturunan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dan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pengaruh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(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Osipow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, 1983). Banyak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kajian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terhadap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teori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Holland yang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telah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digunakan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oleh para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peneliti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khususnya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dalam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mengkaji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tentang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fenomena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pemilihan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karir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yang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menunjang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keberhasilan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individu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.</a:t>
            </a:r>
          </a:p>
          <a:p>
            <a:pPr marL="0" indent="0" algn="just">
              <a:buNone/>
            </a:pP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Fokus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utama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dari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teori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Holland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diletakkan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pada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pemahaman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mengenai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perilaku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vokasi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(vocational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behavior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)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untuk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menghasilkan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cara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praktis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dalam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membantu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masyarakat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baik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kaum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muda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,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dewasa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atau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bahkan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kaum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tua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dalam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merentas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karirnya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baik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di dunia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pendidikan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dan dunia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kerja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(Louis, 2010). </a:t>
            </a:r>
          </a:p>
          <a:p>
            <a:pPr marL="0" indent="0" algn="just">
              <a:buNone/>
            </a:pP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Teori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ini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menekankan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pada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konsep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minat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sebagai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dasar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dari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terbentuknya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kepribadian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seseorang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.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Teori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ini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juga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menekankan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pada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kompetensi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personal,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perilaku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pendidikan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(educational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behavior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),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perilaku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sosial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dan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kepribadian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2755615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4D10A-9B29-6161-F2A6-14619D71B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63" y="75531"/>
            <a:ext cx="10515600" cy="1325563"/>
          </a:xfrm>
        </p:spPr>
        <p:txBody>
          <a:bodyPr/>
          <a:lstStyle/>
          <a:p>
            <a:r>
              <a:rPr lang="en-US" b="1" dirty="0"/>
              <a:t>Profiling </a:t>
            </a:r>
            <a:r>
              <a:rPr lang="en-US" b="1" dirty="0" err="1"/>
              <a:t>Potensi</a:t>
            </a:r>
            <a:r>
              <a:rPr lang="en-US" b="1" dirty="0"/>
              <a:t> </a:t>
            </a:r>
            <a:r>
              <a:rPr lang="en-US" b="1" dirty="0" err="1"/>
              <a:t>Minat</a:t>
            </a:r>
            <a:r>
              <a:rPr lang="en-US" b="1" dirty="0"/>
              <a:t> &amp; </a:t>
            </a:r>
            <a:r>
              <a:rPr lang="en-US" b="1" dirty="0" err="1"/>
              <a:t>Bakat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551B8-C34F-446B-DB04-9EA19FA45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4916" y="1059448"/>
            <a:ext cx="6363263" cy="554367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ID" sz="1400" b="1" i="0" u="none" strike="noStrike" dirty="0">
                <a:solidFill>
                  <a:srgbClr val="575757"/>
                </a:solidFill>
                <a:effectLst/>
              </a:rPr>
              <a:t>Winkel &amp; </a:t>
            </a:r>
            <a:r>
              <a:rPr lang="en-ID" sz="1400" b="1" i="0" u="none" strike="noStrike" dirty="0" err="1">
                <a:solidFill>
                  <a:srgbClr val="575757"/>
                </a:solidFill>
                <a:effectLst/>
              </a:rPr>
              <a:t>Hastuti</a:t>
            </a:r>
            <a:r>
              <a:rPr lang="en-ID" sz="1400" b="1" i="0" u="none" strike="noStrike" dirty="0">
                <a:solidFill>
                  <a:srgbClr val="575757"/>
                </a:solidFill>
                <a:effectLst/>
              </a:rPr>
              <a:t> (2005) </a:t>
            </a:r>
            <a:r>
              <a:rPr lang="en-ID" sz="1400" b="0" i="0" u="none" strike="noStrike" dirty="0" err="1">
                <a:solidFill>
                  <a:srgbClr val="575757"/>
                </a:solidFill>
                <a:effectLst/>
              </a:rPr>
              <a:t>menjelaskan</a:t>
            </a:r>
            <a:r>
              <a:rPr lang="en-ID" sz="14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575757"/>
                </a:solidFill>
                <a:effectLst/>
              </a:rPr>
              <a:t>bahwa</a:t>
            </a:r>
            <a:r>
              <a:rPr lang="en-ID" sz="14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575757"/>
                </a:solidFill>
                <a:effectLst/>
              </a:rPr>
              <a:t>pandangan</a:t>
            </a:r>
            <a:r>
              <a:rPr lang="en-ID" sz="1400" b="0" i="0" u="none" strike="noStrike" dirty="0">
                <a:solidFill>
                  <a:srgbClr val="575757"/>
                </a:solidFill>
                <a:effectLst/>
              </a:rPr>
              <a:t> John Holland </a:t>
            </a:r>
            <a:r>
              <a:rPr lang="en-ID" sz="1400" b="0" i="0" u="none" strike="noStrike" dirty="0" err="1">
                <a:solidFill>
                  <a:srgbClr val="575757"/>
                </a:solidFill>
                <a:effectLst/>
              </a:rPr>
              <a:t>mencakup</a:t>
            </a:r>
            <a:r>
              <a:rPr lang="en-ID" sz="14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575757"/>
                </a:solidFill>
                <a:effectLst/>
              </a:rPr>
              <a:t>tiga</a:t>
            </a:r>
            <a:r>
              <a:rPr lang="en-ID" sz="1400" b="0" i="0" u="none" strike="noStrike" dirty="0">
                <a:solidFill>
                  <a:srgbClr val="575757"/>
                </a:solidFill>
                <a:effectLst/>
              </a:rPr>
              <a:t> ide </a:t>
            </a:r>
            <a:r>
              <a:rPr lang="en-ID" sz="1400" b="0" i="0" u="none" strike="noStrike" dirty="0" err="1">
                <a:solidFill>
                  <a:srgbClr val="575757"/>
                </a:solidFill>
                <a:effectLst/>
              </a:rPr>
              <a:t>dasar</a:t>
            </a:r>
            <a:r>
              <a:rPr lang="en-ID" sz="1400" b="0" i="0" u="none" strike="noStrike" dirty="0">
                <a:solidFill>
                  <a:srgbClr val="575757"/>
                </a:solidFill>
                <a:effectLst/>
              </a:rPr>
              <a:t>, </a:t>
            </a:r>
            <a:r>
              <a:rPr lang="en-ID" sz="1400" b="0" i="0" u="none" strike="noStrike" dirty="0" err="1">
                <a:solidFill>
                  <a:srgbClr val="575757"/>
                </a:solidFill>
                <a:effectLst/>
              </a:rPr>
              <a:t>yaitu</a:t>
            </a:r>
            <a:r>
              <a:rPr lang="en-ID" sz="14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575757"/>
                </a:solidFill>
                <a:effectLst/>
              </a:rPr>
              <a:t>sebagai</a:t>
            </a:r>
            <a:r>
              <a:rPr lang="en-ID" sz="14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575757"/>
                </a:solidFill>
                <a:effectLst/>
              </a:rPr>
              <a:t>berikut</a:t>
            </a:r>
            <a:r>
              <a:rPr lang="en-ID" sz="1400" b="0" i="0" u="none" strike="noStrike" dirty="0">
                <a:solidFill>
                  <a:srgbClr val="575757"/>
                </a:solidFill>
                <a:effectLst/>
              </a:rPr>
              <a:t> :</a:t>
            </a:r>
          </a:p>
          <a:p>
            <a:pPr marL="334350" indent="-334350" algn="just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Semua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orang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dapat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digolongkan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enam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tipe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kepribadian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,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yaitu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: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Tipe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Realistik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(The Realistic Type),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Tipe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Peneliti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/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Pengusut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(The Investigative Type),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Tipe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Seniman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(The Artistic Type),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Tipe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Sosial (The Social Type),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Tipe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Pengusaha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(The Enterprising Type), dan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Tipe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Orang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Rutin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(Conventional Type).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Semakin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mirip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seseorang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dengan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salah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satu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di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antara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enam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tipe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itu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,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Semakin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jelas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ciri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ciri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pola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perilaku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yang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khas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untuk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tipe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bersangkutan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.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Kombinasi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dari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minat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dan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kemampuan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dirty="0" err="1">
                <a:solidFill>
                  <a:srgbClr val="575757"/>
                </a:solidFill>
              </a:rPr>
              <a:t>ini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menciptakan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disposisi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yang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bersifat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sangat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pribadi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untuk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menafsirkan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,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bersikap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,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berpikir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, dan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bertindak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dengan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cara-cara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tertentu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.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Sebagai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sebuah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contoh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: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seseorang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dengan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tipe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sosial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yang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lebih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peka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terhadap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kebutuhan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orang lain dan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karena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itu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lebih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cenderung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memasuki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okupasi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yang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mengandung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unsur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pelayanan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sosial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seperti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perawat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, guru,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pekerja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sosial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, dan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pemuka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agama.</a:t>
            </a:r>
          </a:p>
          <a:p>
            <a:pPr marL="334350" indent="-334800" algn="just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Berbagai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baik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tempat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bekerja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maupun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tempat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tinggal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,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dapat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digolongkan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sampai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berapa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jauh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suatu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tertentu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mendekati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salah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satu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model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(a model environment),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yaitu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: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Realistik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(The Realistic Environment),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Penelitian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/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Pengusutan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(The Investigative Environment),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Kesenian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(The Artistic Environment),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Pengusaha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(The Enterprising Environment),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Pelayanan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Sosial (The Social Environment)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,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Bersuasana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Kegiatan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1" i="1" u="none" strike="noStrike" dirty="0" err="1">
                <a:solidFill>
                  <a:srgbClr val="575757"/>
                </a:solidFill>
                <a:effectLst/>
              </a:rPr>
              <a:t>Rutin</a:t>
            </a:r>
            <a:r>
              <a:rPr lang="en-ID" sz="1200" b="1" i="1" u="none" strike="noStrike" dirty="0">
                <a:solidFill>
                  <a:srgbClr val="575757"/>
                </a:solidFill>
                <a:effectLst/>
              </a:rPr>
              <a:t> (The Conventional Environment).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Semakin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mirip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tertentu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dengan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salah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satu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di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antara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enam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model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ini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,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maka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makin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tampakldi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dalamnya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corak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dan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suasana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kehidupan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yang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khas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untuk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bersangkutan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,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misalkan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kesenian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didominasi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oleh orang yang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bertipe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orang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seniman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,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dalam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arti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kebanyakan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orang yang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hidup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dan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bekerja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di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itu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termasuk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tipe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kepribadian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ini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.</a:t>
            </a:r>
          </a:p>
          <a:p>
            <a:pPr marL="334350" indent="-334800" algn="just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Perpaduan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antara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tipe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kepribadian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tertentu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dan model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yang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sesuai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menghasilkan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keselarasan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dan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kecocokan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okupasional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(occupational homogeneity),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sehingga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seseorang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dapat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mengembangkan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diri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dalam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lingkungan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okupasi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tertentu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dan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merasa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 </a:t>
            </a:r>
            <a:r>
              <a:rPr lang="en-ID" sz="1200" b="0" i="0" u="none" strike="noStrike" dirty="0" err="1">
                <a:solidFill>
                  <a:srgbClr val="575757"/>
                </a:solidFill>
                <a:effectLst/>
              </a:rPr>
              <a:t>puas</a:t>
            </a:r>
            <a:r>
              <a:rPr lang="en-ID" sz="1200" b="0" i="0" u="none" strike="noStrike" dirty="0">
                <a:solidFill>
                  <a:srgbClr val="575757"/>
                </a:solidFill>
                <a:effectLst/>
              </a:rPr>
              <a:t>.</a:t>
            </a:r>
          </a:p>
          <a:p>
            <a:endParaRPr lang="en-US" sz="14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5E16F6B-C46D-170A-839C-5A04F17CCD2C}"/>
              </a:ext>
            </a:extLst>
          </p:cNvPr>
          <p:cNvGrpSpPr/>
          <p:nvPr/>
        </p:nvGrpSpPr>
        <p:grpSpPr>
          <a:xfrm>
            <a:off x="6973797" y="1622294"/>
            <a:ext cx="4969904" cy="4375955"/>
            <a:chOff x="717996" y="1745683"/>
            <a:chExt cx="4969904" cy="4375955"/>
          </a:xfrm>
        </p:grpSpPr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82CFAB0B-3C45-D1CF-F063-62714483510E}"/>
                </a:ext>
              </a:extLst>
            </p:cNvPr>
            <p:cNvSpPr/>
            <p:nvPr/>
          </p:nvSpPr>
          <p:spPr>
            <a:xfrm rot="19977647">
              <a:off x="1677998" y="1745683"/>
              <a:ext cx="1702123" cy="1538977"/>
            </a:xfrm>
            <a:prstGeom prst="hexagon">
              <a:avLst/>
            </a:prstGeom>
            <a:solidFill>
              <a:srgbClr val="FF000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7474BBC4-731B-5E38-D4C6-6AB7873914B9}"/>
                </a:ext>
              </a:extLst>
            </p:cNvPr>
            <p:cNvSpPr/>
            <p:nvPr/>
          </p:nvSpPr>
          <p:spPr>
            <a:xfrm rot="19977647">
              <a:off x="3962480" y="3161049"/>
              <a:ext cx="1725420" cy="1612914"/>
            </a:xfrm>
            <a:prstGeom prst="hexagon">
              <a:avLst/>
            </a:prstGeom>
            <a:solidFill>
              <a:srgbClr val="FFC00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1670BF63-AB4F-3466-9A84-B295D15E8855}"/>
                </a:ext>
              </a:extLst>
            </p:cNvPr>
            <p:cNvSpPr/>
            <p:nvPr/>
          </p:nvSpPr>
          <p:spPr>
            <a:xfrm rot="19977647">
              <a:off x="3113838" y="4515758"/>
              <a:ext cx="1770485" cy="1605880"/>
            </a:xfrm>
            <a:prstGeom prst="hexagon">
              <a:avLst/>
            </a:prstGeom>
            <a:solidFill>
              <a:srgbClr val="92D05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6A3DFF05-15C2-5DE3-07E2-FFFDF21D4CF9}"/>
                </a:ext>
              </a:extLst>
            </p:cNvPr>
            <p:cNvSpPr/>
            <p:nvPr/>
          </p:nvSpPr>
          <p:spPr>
            <a:xfrm rot="19977647">
              <a:off x="1455074" y="4469113"/>
              <a:ext cx="1810668" cy="1607020"/>
            </a:xfrm>
            <a:prstGeom prst="hexagon">
              <a:avLst/>
            </a:prstGeom>
            <a:solidFill>
              <a:srgbClr val="00B0F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55851CD0-BBF2-18D5-B1CF-3E2026BBA31D}"/>
                </a:ext>
              </a:extLst>
            </p:cNvPr>
            <p:cNvSpPr/>
            <p:nvPr/>
          </p:nvSpPr>
          <p:spPr>
            <a:xfrm rot="19977647">
              <a:off x="717996" y="3047207"/>
              <a:ext cx="1834491" cy="1558114"/>
            </a:xfrm>
            <a:prstGeom prst="hexagon">
              <a:avLst/>
            </a:prstGeom>
            <a:solidFill>
              <a:srgbClr val="9B55F3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CE7DE49C-8985-6ED2-CEB9-58417272B43C}"/>
                </a:ext>
              </a:extLst>
            </p:cNvPr>
            <p:cNvSpPr/>
            <p:nvPr/>
          </p:nvSpPr>
          <p:spPr>
            <a:xfrm rot="19977647">
              <a:off x="3219563" y="1841850"/>
              <a:ext cx="1711184" cy="1496907"/>
            </a:xfrm>
            <a:prstGeom prst="hexagon">
              <a:avLst/>
            </a:prstGeom>
            <a:solidFill>
              <a:srgbClr val="FF7B0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DFCE02A-53E5-CF8D-4E62-538001BFE095}"/>
                </a:ext>
              </a:extLst>
            </p:cNvPr>
            <p:cNvSpPr txBox="1"/>
            <p:nvPr/>
          </p:nvSpPr>
          <p:spPr>
            <a:xfrm>
              <a:off x="3437269" y="1912911"/>
              <a:ext cx="132695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bg1"/>
                  </a:solidFill>
                </a:rPr>
                <a:t>INVESTIGATIVE</a:t>
              </a:r>
            </a:p>
            <a:p>
              <a:pPr algn="ctr"/>
              <a:endParaRPr lang="en-US" sz="300" dirty="0">
                <a:solidFill>
                  <a:schemeClr val="bg1"/>
                </a:solidFill>
              </a:endParaRPr>
            </a:p>
            <a:p>
              <a:pPr algn="ctr"/>
              <a:r>
                <a:rPr lang="id-ID" sz="800" dirty="0">
                  <a:solidFill>
                    <a:schemeClr val="bg1"/>
                  </a:solidFill>
                </a:rPr>
                <a:t>Tipe investigatif biasanya lebih suka bekerja dengan ide dibandingkan dengan orang atau benda. Mereka biasanya digambarkan sebagai orang yang logis, ingin tahu, tepat, intelektual, hati-hati dan mandiri.</a:t>
              </a:r>
              <a:endParaRPr lang="en-ID" sz="800" dirty="0">
                <a:solidFill>
                  <a:schemeClr val="bg1"/>
                </a:solidFill>
                <a:effectLst/>
                <a:latin typeface="Helvetica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F8E45F9-86C7-A67C-D345-6574EACD9CA1}"/>
                </a:ext>
              </a:extLst>
            </p:cNvPr>
            <p:cNvSpPr txBox="1"/>
            <p:nvPr/>
          </p:nvSpPr>
          <p:spPr>
            <a:xfrm>
              <a:off x="1833769" y="1894390"/>
              <a:ext cx="144339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D" sz="800" b="1" dirty="0">
                  <a:solidFill>
                    <a:schemeClr val="bg1"/>
                  </a:solidFill>
                  <a:effectLst/>
                </a:rPr>
                <a:t>REALISTIK</a:t>
              </a:r>
            </a:p>
            <a:p>
              <a:pPr algn="ctr"/>
              <a:endParaRPr lang="en-ID" sz="500" b="1" dirty="0">
                <a:solidFill>
                  <a:schemeClr val="bg1"/>
                </a:solidFill>
                <a:effectLst/>
              </a:endParaRPr>
            </a:p>
            <a:p>
              <a:pPr algn="ctr"/>
              <a:r>
                <a:rPr lang="id-ID" sz="800" dirty="0">
                  <a:solidFill>
                    <a:schemeClr val="bg1"/>
                  </a:solidFill>
                </a:rPr>
                <a:t>Tipe realistis umumnya lebih suka bekerja dengan benda dibandingkan dengan orang. Mereka sering digambarkan sebagai orang yang tulus, bijaksana, praktis, alami, hemat, sederhana, gigih, dan jujur.</a:t>
              </a:r>
              <a:endParaRPr lang="en-ID" sz="800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EC03079-DC76-6F3F-6E3E-A0988BE82935}"/>
                </a:ext>
              </a:extLst>
            </p:cNvPr>
            <p:cNvSpPr txBox="1"/>
            <p:nvPr/>
          </p:nvSpPr>
          <p:spPr>
            <a:xfrm>
              <a:off x="4124120" y="3098553"/>
              <a:ext cx="133477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800" b="1" dirty="0">
                <a:solidFill>
                  <a:schemeClr val="bg1"/>
                </a:solidFill>
              </a:endParaRPr>
            </a:p>
            <a:p>
              <a:pPr algn="ctr"/>
              <a:r>
                <a:rPr lang="en-ID" sz="800" b="1" dirty="0">
                  <a:solidFill>
                    <a:schemeClr val="bg1"/>
                  </a:solidFill>
                  <a:effectLst/>
                </a:rPr>
                <a:t>ARTISTIC</a:t>
              </a:r>
            </a:p>
            <a:p>
              <a:pPr algn="ctr"/>
              <a:endParaRPr lang="en-ID" sz="800" b="1" dirty="0">
                <a:solidFill>
                  <a:schemeClr val="bg1"/>
                </a:solidFill>
                <a:effectLst/>
              </a:endParaRPr>
            </a:p>
            <a:p>
              <a:pPr algn="ctr"/>
              <a:r>
                <a:rPr lang="id-ID" sz="800" dirty="0">
                  <a:solidFill>
                    <a:schemeClr val="bg1"/>
                  </a:solidFill>
                </a:rPr>
                <a:t>, Tipe Artistik biasanya suka bekerja dengan ide daripada berpikir. Mereka biasanya digambarkan sebagai orang yang terbuka, kreatif, mandiri, emosional, impulsif, dan orisinal</a:t>
              </a:r>
              <a:endParaRPr lang="en-ID" sz="800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CDB9AA-4064-FC68-6133-306DB1671AEF}"/>
                </a:ext>
              </a:extLst>
            </p:cNvPr>
            <p:cNvSpPr txBox="1"/>
            <p:nvPr/>
          </p:nvSpPr>
          <p:spPr>
            <a:xfrm>
              <a:off x="854824" y="3152672"/>
              <a:ext cx="1513500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D" sz="800" b="1" dirty="0">
                  <a:solidFill>
                    <a:schemeClr val="bg1"/>
                  </a:solidFill>
                  <a:effectLst/>
                </a:rPr>
                <a:t>CONVENTIONAL</a:t>
              </a:r>
            </a:p>
            <a:p>
              <a:pPr algn="ctr"/>
              <a:endParaRPr lang="en-ID" sz="600" dirty="0">
                <a:solidFill>
                  <a:schemeClr val="bg1"/>
                </a:solidFill>
                <a:effectLst/>
              </a:endParaRPr>
            </a:p>
            <a:p>
              <a:pPr algn="ctr"/>
              <a:r>
                <a:rPr lang="en-ID" sz="800" dirty="0" err="1">
                  <a:solidFill>
                    <a:schemeClr val="bg1"/>
                  </a:solidFill>
                  <a:effectLst/>
                </a:rPr>
                <a:t>Tipe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konvensional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umumnya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suka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bekerja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dengan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kertas</a:t>
              </a:r>
              <a:endParaRPr lang="en-ID" sz="800" dirty="0">
                <a:solidFill>
                  <a:schemeClr val="bg1"/>
                </a:solidFill>
                <a:effectLst/>
              </a:endParaRPr>
            </a:p>
            <a:p>
              <a:pPr algn="ctr"/>
              <a:r>
                <a:rPr lang="en-ID" sz="800" dirty="0">
                  <a:solidFill>
                    <a:schemeClr val="bg1"/>
                  </a:solidFill>
                  <a:effectLst/>
                </a:rPr>
                <a:t>dan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angka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.</a:t>
              </a:r>
            </a:p>
            <a:p>
              <a:pPr algn="ctr"/>
              <a:r>
                <a:rPr lang="en-ID" sz="800" dirty="0" err="1">
                  <a:solidFill>
                    <a:schemeClr val="bg1"/>
                  </a:solidFill>
                  <a:effectLst/>
                </a:rPr>
                <a:t>Mereka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biasanya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dijelaskan</a:t>
              </a:r>
              <a:endParaRPr lang="en-ID" sz="800" dirty="0">
                <a:solidFill>
                  <a:schemeClr val="bg1"/>
                </a:solidFill>
                <a:effectLst/>
              </a:endParaRPr>
            </a:p>
            <a:p>
              <a:pPr algn="ctr"/>
              <a:r>
                <a:rPr lang="en-ID" sz="800" dirty="0">
                  <a:solidFill>
                    <a:schemeClr val="bg1"/>
                  </a:solidFill>
                  <a:effectLst/>
                </a:rPr>
                <a:t> 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sebagai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hal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yang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praktis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,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hati-hati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,</a:t>
              </a:r>
            </a:p>
            <a:p>
              <a:pPr algn="ctr"/>
              <a:r>
                <a:rPr lang="en-ID" sz="800" dirty="0" err="1">
                  <a:solidFill>
                    <a:schemeClr val="bg1"/>
                  </a:solidFill>
                  <a:effectLst/>
                </a:rPr>
                <a:t>hemat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,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efisien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,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teratur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,</a:t>
              </a:r>
            </a:p>
            <a:p>
              <a:pPr algn="ctr"/>
              <a:r>
                <a:rPr lang="en-ID" sz="800" dirty="0">
                  <a:solidFill>
                    <a:schemeClr val="bg1"/>
                  </a:solidFill>
                  <a:effectLst/>
                </a:rPr>
                <a:t>dan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gigih</a:t>
              </a:r>
              <a:endParaRPr lang="en-ID" sz="800" dirty="0">
                <a:solidFill>
                  <a:schemeClr val="bg1"/>
                </a:solidFill>
                <a:effectLst/>
                <a:latin typeface="Helvetica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CE00960-FFBD-EC40-FA27-984B546E6EAC}"/>
                </a:ext>
              </a:extLst>
            </p:cNvPr>
            <p:cNvSpPr txBox="1"/>
            <p:nvPr/>
          </p:nvSpPr>
          <p:spPr>
            <a:xfrm>
              <a:off x="3255267" y="4405208"/>
              <a:ext cx="1481082" cy="1569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D" sz="80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       </a:t>
              </a:r>
            </a:p>
            <a:p>
              <a:pPr algn="ctr"/>
              <a:r>
                <a:rPr lang="en-US" sz="800" b="1" dirty="0">
                  <a:solidFill>
                    <a:schemeClr val="bg1"/>
                  </a:solidFill>
                  <a:effectLst/>
                </a:rPr>
                <a:t>SOCIAL</a:t>
              </a:r>
              <a:endParaRPr lang="id-ID" sz="800" dirty="0">
                <a:solidFill>
                  <a:schemeClr val="bg1"/>
                </a:solidFill>
              </a:endParaRPr>
            </a:p>
            <a:p>
              <a:pPr algn="ctr"/>
              <a:endParaRPr lang="id-ID" sz="800" dirty="0">
                <a:solidFill>
                  <a:schemeClr val="bg1"/>
                </a:solidFill>
              </a:endParaRPr>
            </a:p>
            <a:p>
              <a:pPr algn="ctr"/>
              <a:r>
                <a:rPr lang="id-ID" sz="800" dirty="0">
                  <a:solidFill>
                    <a:schemeClr val="bg1"/>
                  </a:solidFill>
                </a:rPr>
                <a:t> Tipe sosial biasanya lebih suka bekerja dengan orang daripada dengan benda. Mereka sering digambarkan sebagai penolong, pengertian, bertanggung jawab, hangat, kooperatif, meyakinkan, ramah, baik hati, murah hati, dan sabar.</a:t>
              </a:r>
              <a:endParaRPr lang="en-ID" sz="800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C86A740-3BA2-39B5-0594-91FF4D5F299B}"/>
                </a:ext>
              </a:extLst>
            </p:cNvPr>
            <p:cNvSpPr txBox="1"/>
            <p:nvPr/>
          </p:nvSpPr>
          <p:spPr>
            <a:xfrm>
              <a:off x="1521927" y="4543821"/>
              <a:ext cx="1468635" cy="1415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D" sz="800" dirty="0">
                  <a:solidFill>
                    <a:schemeClr val="bg1"/>
                  </a:solidFill>
                  <a:effectLst/>
                </a:rPr>
                <a:t>ENTERPRISING</a:t>
              </a:r>
            </a:p>
            <a:p>
              <a:pPr algn="ctr"/>
              <a:endParaRPr lang="en-ID" sz="600" dirty="0">
                <a:solidFill>
                  <a:schemeClr val="bg1"/>
                </a:solidFill>
                <a:effectLst/>
              </a:endParaRPr>
            </a:p>
            <a:p>
              <a:pPr algn="ctr"/>
              <a:r>
                <a:rPr lang="en-ID" sz="800" dirty="0" err="1">
                  <a:solidFill>
                    <a:schemeClr val="bg1"/>
                  </a:solidFill>
                  <a:effectLst/>
                </a:rPr>
                <a:t>Tipe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wirausaha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umumnya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lebih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suka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bekerja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dengan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orang dan ide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dibandingkan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dengan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benda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.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Mereka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biasanya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digambarkan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sebagai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orang yang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ramah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,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suka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berpetualang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,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energik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,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optimis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,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mudah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bergaul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, dan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percaya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ID" sz="800" dirty="0" err="1">
                  <a:solidFill>
                    <a:schemeClr val="bg1"/>
                  </a:solidFill>
                  <a:effectLst/>
                </a:rPr>
                <a:t>diri</a:t>
              </a:r>
              <a:r>
                <a:rPr lang="en-ID" sz="800" dirty="0">
                  <a:solidFill>
                    <a:schemeClr val="bg1"/>
                  </a:solidFill>
                  <a:effectLst/>
                </a:rPr>
                <a:t>.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B2DB4B-0F97-A830-1476-6945207674A9}"/>
                </a:ext>
              </a:extLst>
            </p:cNvPr>
            <p:cNvSpPr/>
            <p:nvPr/>
          </p:nvSpPr>
          <p:spPr>
            <a:xfrm>
              <a:off x="2767099" y="3130895"/>
              <a:ext cx="428008" cy="424417"/>
            </a:xfrm>
            <a:prstGeom prst="ellipse">
              <a:avLst/>
            </a:prstGeom>
            <a:solidFill>
              <a:srgbClr val="FF000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n w="12700" cmpd="sng">
                    <a:solidFill>
                      <a:schemeClr val="accent4"/>
                    </a:solidFill>
                    <a:prstDash val="solid"/>
                  </a:ln>
                  <a:gradFill>
                    <a:gsLst>
                      <a:gs pos="0">
                        <a:schemeClr val="accent4"/>
                      </a:gs>
                      <a:gs pos="4000">
                        <a:schemeClr val="accent4">
                          <a:lumMod val="60000"/>
                          <a:lumOff val="40000"/>
                        </a:schemeClr>
                      </a:gs>
                      <a:gs pos="87000">
                        <a:schemeClr val="accent4">
                          <a:lumMod val="20000"/>
                          <a:lumOff val="80000"/>
                        </a:schemeClr>
                      </a:gs>
                    </a:gsLst>
                    <a:lin ang="5400000"/>
                  </a:gradFill>
                </a:rPr>
                <a:t>R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1593E97-1DB1-5013-F446-84869C1F523D}"/>
                </a:ext>
              </a:extLst>
            </p:cNvPr>
            <p:cNvSpPr/>
            <p:nvPr/>
          </p:nvSpPr>
          <p:spPr>
            <a:xfrm>
              <a:off x="3412799" y="3138913"/>
              <a:ext cx="428008" cy="424417"/>
            </a:xfrm>
            <a:prstGeom prst="ellipse">
              <a:avLst/>
            </a:prstGeom>
            <a:solidFill>
              <a:srgbClr val="FF7B0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n w="12700" cmpd="sng">
                    <a:solidFill>
                      <a:schemeClr val="accent4"/>
                    </a:solidFill>
                    <a:prstDash val="solid"/>
                  </a:ln>
                  <a:gradFill>
                    <a:gsLst>
                      <a:gs pos="0">
                        <a:schemeClr val="accent4"/>
                      </a:gs>
                      <a:gs pos="4000">
                        <a:schemeClr val="accent4">
                          <a:lumMod val="60000"/>
                          <a:lumOff val="40000"/>
                        </a:schemeClr>
                      </a:gs>
                      <a:gs pos="87000">
                        <a:schemeClr val="accent4">
                          <a:lumMod val="20000"/>
                          <a:lumOff val="80000"/>
                        </a:schemeClr>
                      </a:gs>
                    </a:gsLst>
                    <a:lin ang="5400000"/>
                  </a:gradFill>
                </a:rPr>
                <a:t>I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F6026C2-82EB-EC25-48CC-501691249E99}"/>
                </a:ext>
              </a:extLst>
            </p:cNvPr>
            <p:cNvSpPr/>
            <p:nvPr/>
          </p:nvSpPr>
          <p:spPr>
            <a:xfrm>
              <a:off x="3364443" y="4349707"/>
              <a:ext cx="428008" cy="424417"/>
            </a:xfrm>
            <a:prstGeom prst="ellipse">
              <a:avLst/>
            </a:prstGeom>
            <a:solidFill>
              <a:srgbClr val="92D05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n w="12700" cmpd="sng">
                    <a:solidFill>
                      <a:schemeClr val="accent4"/>
                    </a:solidFill>
                    <a:prstDash val="solid"/>
                  </a:ln>
                  <a:gradFill>
                    <a:gsLst>
                      <a:gs pos="0">
                        <a:schemeClr val="accent4"/>
                      </a:gs>
                      <a:gs pos="4000">
                        <a:schemeClr val="accent4">
                          <a:lumMod val="60000"/>
                          <a:lumOff val="40000"/>
                        </a:schemeClr>
                      </a:gs>
                      <a:gs pos="87000">
                        <a:schemeClr val="accent4">
                          <a:lumMod val="20000"/>
                          <a:lumOff val="80000"/>
                        </a:schemeClr>
                      </a:gs>
                    </a:gsLst>
                    <a:lin ang="5400000"/>
                  </a:gradFill>
                </a:rPr>
                <a:t>S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4C1CA80-3D8C-7663-DE00-8D4BC2E0E386}"/>
                </a:ext>
              </a:extLst>
            </p:cNvPr>
            <p:cNvSpPr/>
            <p:nvPr/>
          </p:nvSpPr>
          <p:spPr>
            <a:xfrm>
              <a:off x="3760350" y="3722355"/>
              <a:ext cx="428008" cy="424417"/>
            </a:xfrm>
            <a:prstGeom prst="ellipse">
              <a:avLst/>
            </a:prstGeom>
            <a:solidFill>
              <a:srgbClr val="FFC00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n w="12700" cmpd="sng">
                    <a:solidFill>
                      <a:schemeClr val="accent4"/>
                    </a:solidFill>
                    <a:prstDash val="solid"/>
                  </a:ln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209EDC3-CFC6-A5C3-33AC-5D73F8E476E4}"/>
                </a:ext>
              </a:extLst>
            </p:cNvPr>
            <p:cNvSpPr/>
            <p:nvPr/>
          </p:nvSpPr>
          <p:spPr>
            <a:xfrm>
              <a:off x="2666833" y="4318013"/>
              <a:ext cx="428008" cy="424417"/>
            </a:xfrm>
            <a:prstGeom prst="ellipse">
              <a:avLst/>
            </a:prstGeom>
            <a:solidFill>
              <a:srgbClr val="00B0F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n w="12700" cmpd="sng">
                    <a:solidFill>
                      <a:schemeClr val="accent4"/>
                    </a:solidFill>
                    <a:prstDash val="solid"/>
                  </a:ln>
                  <a:gradFill>
                    <a:gsLst>
                      <a:gs pos="0">
                        <a:schemeClr val="accent4"/>
                      </a:gs>
                      <a:gs pos="4000">
                        <a:schemeClr val="accent4">
                          <a:lumMod val="60000"/>
                          <a:lumOff val="40000"/>
                        </a:schemeClr>
                      </a:gs>
                      <a:gs pos="87000">
                        <a:schemeClr val="accent4">
                          <a:lumMod val="20000"/>
                          <a:lumOff val="80000"/>
                        </a:schemeClr>
                      </a:gs>
                    </a:gsLst>
                    <a:lin ang="5400000"/>
                  </a:gradFill>
                </a:rPr>
                <a:t>E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EAAE7A9-A691-0BE5-1759-2118E72B6CCE}"/>
                </a:ext>
              </a:extLst>
            </p:cNvPr>
            <p:cNvSpPr/>
            <p:nvPr/>
          </p:nvSpPr>
          <p:spPr>
            <a:xfrm>
              <a:off x="2321046" y="3693087"/>
              <a:ext cx="428008" cy="424417"/>
            </a:xfrm>
            <a:prstGeom prst="ellipse">
              <a:avLst/>
            </a:prstGeom>
            <a:solidFill>
              <a:srgbClr val="9B55F3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n w="12700" cmpd="sng">
                    <a:solidFill>
                      <a:schemeClr val="accent4"/>
                    </a:solidFill>
                    <a:prstDash val="solid"/>
                  </a:ln>
                  <a:gradFill>
                    <a:gsLst>
                      <a:gs pos="0">
                        <a:schemeClr val="accent4"/>
                      </a:gs>
                      <a:gs pos="4000">
                        <a:schemeClr val="accent4">
                          <a:lumMod val="60000"/>
                          <a:lumOff val="40000"/>
                        </a:schemeClr>
                      </a:gs>
                      <a:gs pos="87000">
                        <a:schemeClr val="accent4">
                          <a:lumMod val="20000"/>
                          <a:lumOff val="80000"/>
                        </a:schemeClr>
                      </a:gs>
                    </a:gsLst>
                    <a:lin ang="5400000"/>
                  </a:gradFill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685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08CAE-F382-526F-665B-BB4E8DCEC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7756" y="1404282"/>
            <a:ext cx="7988969" cy="527324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200" b="1" dirty="0"/>
              <a:t>Holland’s Theory.</a:t>
            </a:r>
            <a:endParaRPr lang="en-US" sz="1200" dirty="0"/>
          </a:p>
          <a:p>
            <a:pPr marL="0" indent="0" algn="just">
              <a:buNone/>
            </a:pPr>
            <a:r>
              <a:rPr lang="en-US" sz="1200" dirty="0"/>
              <a:t>John Holland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seorang</a:t>
            </a:r>
            <a:r>
              <a:rPr lang="en-US" sz="1200" dirty="0"/>
              <a:t> </a:t>
            </a:r>
            <a:r>
              <a:rPr lang="en-US" sz="1200" dirty="0" err="1"/>
              <a:t>psikolog</a:t>
            </a:r>
            <a:r>
              <a:rPr lang="en-US" sz="1200" dirty="0"/>
              <a:t> yang </a:t>
            </a:r>
            <a:r>
              <a:rPr lang="en-US" sz="1200" dirty="0" err="1"/>
              <a:t>mengabdikan</a:t>
            </a:r>
            <a:r>
              <a:rPr lang="en-US" sz="1200" dirty="0"/>
              <a:t> </a:t>
            </a:r>
            <a:r>
              <a:rPr lang="en-US" sz="1200" dirty="0" err="1"/>
              <a:t>kehidupan</a:t>
            </a:r>
            <a:r>
              <a:rPr lang="en-US" sz="1200" dirty="0"/>
              <a:t> </a:t>
            </a:r>
            <a:r>
              <a:rPr lang="en-US" sz="1200" dirty="0" err="1"/>
              <a:t>profesionalnya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meneliti</a:t>
            </a:r>
            <a:r>
              <a:rPr lang="en-US" sz="1200" dirty="0"/>
              <a:t> </a:t>
            </a:r>
            <a:r>
              <a:rPr lang="en-US" sz="1200" dirty="0" err="1"/>
              <a:t>isu-isu</a:t>
            </a:r>
            <a:r>
              <a:rPr lang="en-US" sz="1200" dirty="0"/>
              <a:t> yang </a:t>
            </a:r>
            <a:r>
              <a:rPr lang="en-US" sz="1200" dirty="0" err="1"/>
              <a:t>berkaitan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pilihan</a:t>
            </a:r>
            <a:r>
              <a:rPr lang="en-US" sz="1200" dirty="0"/>
              <a:t> </a:t>
            </a:r>
            <a:r>
              <a:rPr lang="en-US" sz="1200" dirty="0" err="1"/>
              <a:t>karir</a:t>
            </a:r>
            <a:r>
              <a:rPr lang="en-US" sz="1200" dirty="0"/>
              <a:t> dan </a:t>
            </a:r>
            <a:r>
              <a:rPr lang="en-US" sz="1200" dirty="0" err="1"/>
              <a:t>kepuasan</a:t>
            </a:r>
            <a:r>
              <a:rPr lang="en-US" sz="1200" dirty="0"/>
              <a:t>. </a:t>
            </a:r>
            <a:r>
              <a:rPr lang="en-US" sz="1200" dirty="0" err="1"/>
              <a:t>Ia</a:t>
            </a:r>
            <a:r>
              <a:rPr lang="en-US" sz="1200" dirty="0"/>
              <a:t> </a:t>
            </a:r>
            <a:r>
              <a:rPr lang="en-US" sz="1200" dirty="0" err="1"/>
              <a:t>mengembangkan</a:t>
            </a:r>
            <a:r>
              <a:rPr lang="en-US" sz="1200" dirty="0"/>
              <a:t> </a:t>
            </a:r>
            <a:r>
              <a:rPr lang="en-US" sz="1200" dirty="0" err="1"/>
              <a:t>teori</a:t>
            </a:r>
            <a:r>
              <a:rPr lang="en-US" sz="1200" dirty="0"/>
              <a:t> </a:t>
            </a:r>
            <a:r>
              <a:rPr lang="en-US" sz="1200" dirty="0" err="1"/>
              <a:t>terkenal</a:t>
            </a:r>
            <a:r>
              <a:rPr lang="en-US" sz="1200" dirty="0"/>
              <a:t>, dan </a:t>
            </a:r>
            <a:r>
              <a:rPr lang="en-US" sz="1200" dirty="0" err="1"/>
              <a:t>merancang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penilaian</a:t>
            </a:r>
            <a:r>
              <a:rPr lang="en-US" sz="1200" dirty="0"/>
              <a:t> dan </a:t>
            </a:r>
            <a:r>
              <a:rPr lang="en-US" sz="1200" dirty="0" err="1"/>
              <a:t>materi</a:t>
            </a:r>
            <a:r>
              <a:rPr lang="en-US" sz="1200" dirty="0"/>
              <a:t> </a:t>
            </a:r>
            <a:r>
              <a:rPr lang="en-US" sz="1200" dirty="0" err="1"/>
              <a:t>pendukung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membantu</a:t>
            </a:r>
            <a:r>
              <a:rPr lang="en-US" sz="1200" dirty="0"/>
              <a:t> orang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membuat</a:t>
            </a:r>
            <a:r>
              <a:rPr lang="en-US" sz="1200" dirty="0"/>
              <a:t> </a:t>
            </a:r>
            <a:r>
              <a:rPr lang="en-US" sz="1200" dirty="0" err="1"/>
              <a:t>pilihan</a:t>
            </a:r>
            <a:r>
              <a:rPr lang="en-US" sz="1200" dirty="0"/>
              <a:t> </a:t>
            </a:r>
            <a:r>
              <a:rPr lang="en-US" sz="1200" dirty="0" err="1"/>
              <a:t>karir</a:t>
            </a:r>
            <a:r>
              <a:rPr lang="en-US" sz="1200" dirty="0"/>
              <a:t> yang </a:t>
            </a:r>
            <a:r>
              <a:rPr lang="en-US" sz="1200" dirty="0" err="1"/>
              <a:t>efektif</a:t>
            </a:r>
            <a:r>
              <a:rPr lang="en-US" sz="1200" dirty="0"/>
              <a:t>. </a:t>
            </a:r>
            <a:r>
              <a:rPr lang="en-US" sz="1200" dirty="0" err="1"/>
              <a:t>Teori</a:t>
            </a:r>
            <a:r>
              <a:rPr lang="en-US" sz="1200" dirty="0"/>
              <a:t> dan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penilaiannya</a:t>
            </a:r>
            <a:r>
              <a:rPr lang="en-US" sz="1200" dirty="0"/>
              <a:t> </a:t>
            </a:r>
            <a:r>
              <a:rPr lang="en-US" sz="1200" dirty="0" err="1"/>
              <a:t>telah</a:t>
            </a:r>
            <a:r>
              <a:rPr lang="en-US" sz="1200" dirty="0"/>
              <a:t> </a:t>
            </a:r>
            <a:r>
              <a:rPr lang="en-US" sz="1200" dirty="0" err="1"/>
              <a:t>membantu</a:t>
            </a:r>
            <a:r>
              <a:rPr lang="en-US" sz="1200" dirty="0"/>
              <a:t> </a:t>
            </a:r>
            <a:r>
              <a:rPr lang="en-US" sz="1200" dirty="0" err="1"/>
              <a:t>jutaan</a:t>
            </a:r>
            <a:r>
              <a:rPr lang="en-US" sz="1200" dirty="0"/>
              <a:t> orang di </a:t>
            </a:r>
            <a:r>
              <a:rPr lang="en-US" sz="1200" dirty="0" err="1"/>
              <a:t>seluruh</a:t>
            </a:r>
            <a:r>
              <a:rPr lang="en-US" sz="1200" dirty="0"/>
              <a:t> dunia dan </a:t>
            </a:r>
            <a:r>
              <a:rPr lang="en-US" sz="1200" dirty="0" err="1"/>
              <a:t>didukung</a:t>
            </a:r>
            <a:r>
              <a:rPr lang="en-US" sz="1200" dirty="0"/>
              <a:t> oleh </a:t>
            </a:r>
            <a:r>
              <a:rPr lang="en-US" sz="1200" dirty="0" err="1"/>
              <a:t>ratusan</a:t>
            </a:r>
            <a:r>
              <a:rPr lang="en-US" sz="1200" dirty="0"/>
              <a:t> </a:t>
            </a:r>
            <a:r>
              <a:rPr lang="en-US" sz="1200" dirty="0" err="1"/>
              <a:t>penelitian</a:t>
            </a:r>
            <a:r>
              <a:rPr lang="en-US" sz="1200" dirty="0"/>
              <a:t>.</a:t>
            </a:r>
          </a:p>
          <a:p>
            <a:pPr marL="0" indent="0" algn="just">
              <a:buNone/>
            </a:pPr>
            <a:r>
              <a:rPr lang="en-US" sz="1200" dirty="0"/>
              <a:t>John Holland </a:t>
            </a:r>
            <a:r>
              <a:rPr lang="en-US" sz="1200" dirty="0" err="1"/>
              <a:t>menemukan</a:t>
            </a:r>
            <a:r>
              <a:rPr lang="en-US" sz="1200" dirty="0"/>
              <a:t> </a:t>
            </a:r>
            <a:r>
              <a:rPr lang="en-US" sz="1200" dirty="0" err="1"/>
              <a:t>enam</a:t>
            </a:r>
            <a:r>
              <a:rPr lang="en-US" sz="1200" dirty="0"/>
              <a:t>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kepribadian</a:t>
            </a:r>
            <a:r>
              <a:rPr lang="en-US" sz="1200" dirty="0"/>
              <a:t> </a:t>
            </a:r>
            <a:r>
              <a:rPr lang="en-US" sz="1200" dirty="0" err="1"/>
              <a:t>kejuruan</a:t>
            </a:r>
            <a:r>
              <a:rPr lang="en-US" sz="1200" dirty="0"/>
              <a:t> ideal, </a:t>
            </a:r>
            <a:r>
              <a:rPr lang="en-US" sz="1200" dirty="0" err="1"/>
              <a:t>bahwa</a:t>
            </a:r>
            <a:r>
              <a:rPr lang="en-US" sz="1200" dirty="0"/>
              <a:t> orang yang </a:t>
            </a:r>
            <a:r>
              <a:rPr lang="en-US" sz="1200" dirty="0" err="1"/>
              <a:t>membutuhkan</a:t>
            </a:r>
            <a:r>
              <a:rPr lang="en-US" sz="1200" dirty="0"/>
              <a:t> </a:t>
            </a:r>
            <a:r>
              <a:rPr lang="en-US" sz="1200" dirty="0" err="1"/>
              <a:t>bantuan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mengambil</a:t>
            </a:r>
            <a:r>
              <a:rPr lang="en-US" sz="1200" dirty="0"/>
              <a:t> </a:t>
            </a:r>
            <a:r>
              <a:rPr lang="en-US" sz="1200" dirty="0" err="1"/>
              <a:t>keputusan</a:t>
            </a:r>
            <a:r>
              <a:rPr lang="en-US" sz="1200" dirty="0"/>
              <a:t> </a:t>
            </a:r>
            <a:r>
              <a:rPr lang="en-US" sz="1200" dirty="0" err="1"/>
              <a:t>karier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didukung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memahami</a:t>
            </a:r>
            <a:r>
              <a:rPr lang="en-US" sz="1200" dirty="0"/>
              <a:t> </a:t>
            </a:r>
            <a:r>
              <a:rPr lang="en-US" sz="1200" dirty="0" err="1"/>
              <a:t>kemiripan</a:t>
            </a:r>
            <a:r>
              <a:rPr lang="en-US" sz="1200" dirty="0"/>
              <a:t>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berikut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:</a:t>
            </a:r>
          </a:p>
          <a:p>
            <a:pPr lvl="1" algn="just">
              <a:spcBef>
                <a:spcPts val="0"/>
              </a:spcBef>
            </a:pPr>
            <a:r>
              <a:rPr lang="en-US" sz="1200" dirty="0" err="1"/>
              <a:t>Realistis</a:t>
            </a:r>
            <a:r>
              <a:rPr lang="en-US" sz="1200" dirty="0"/>
              <a:t> (</a:t>
            </a:r>
            <a:r>
              <a:rPr lang="en-US" sz="1200" dirty="0" err="1"/>
              <a:t>kanan</a:t>
            </a:r>
            <a:r>
              <a:rPr lang="en-US" sz="1200" dirty="0"/>
              <a:t>)</a:t>
            </a:r>
          </a:p>
          <a:p>
            <a:pPr lvl="1" algn="just">
              <a:spcBef>
                <a:spcPts val="0"/>
              </a:spcBef>
            </a:pPr>
            <a:r>
              <a:rPr lang="en-US" sz="1200" dirty="0" err="1"/>
              <a:t>Investigasi</a:t>
            </a:r>
            <a:r>
              <a:rPr lang="en-US" sz="1200" dirty="0"/>
              <a:t> (I)</a:t>
            </a:r>
          </a:p>
          <a:p>
            <a:pPr lvl="1" algn="just">
              <a:spcBef>
                <a:spcPts val="0"/>
              </a:spcBef>
            </a:pPr>
            <a:r>
              <a:rPr lang="en-US" sz="1200" dirty="0" err="1"/>
              <a:t>Artistik</a:t>
            </a:r>
            <a:r>
              <a:rPr lang="en-US" sz="1200" dirty="0"/>
              <a:t> (A)</a:t>
            </a:r>
          </a:p>
          <a:p>
            <a:pPr lvl="1" algn="just">
              <a:spcBef>
                <a:spcPts val="0"/>
              </a:spcBef>
            </a:pPr>
            <a:r>
              <a:rPr lang="en-US" sz="1200" dirty="0" err="1"/>
              <a:t>Sosial</a:t>
            </a:r>
            <a:r>
              <a:rPr lang="en-US" sz="1200" dirty="0"/>
              <a:t> (S)</a:t>
            </a:r>
          </a:p>
          <a:p>
            <a:pPr lvl="1" algn="just">
              <a:spcBef>
                <a:spcPts val="0"/>
              </a:spcBef>
            </a:pPr>
            <a:r>
              <a:rPr lang="en-US" sz="1200" dirty="0" err="1"/>
              <a:t>Enterpreuner</a:t>
            </a:r>
            <a:r>
              <a:rPr lang="en-US" sz="1200" dirty="0"/>
              <a:t> (E)</a:t>
            </a:r>
          </a:p>
          <a:p>
            <a:pPr lvl="1" algn="just">
              <a:spcBef>
                <a:spcPts val="0"/>
              </a:spcBef>
            </a:pPr>
            <a:r>
              <a:rPr lang="en-US" sz="1200" dirty="0" err="1"/>
              <a:t>Konvensional</a:t>
            </a:r>
            <a:r>
              <a:rPr lang="en-US" sz="1200" dirty="0"/>
              <a:t> (C)</a:t>
            </a:r>
          </a:p>
          <a:p>
            <a:pPr marL="0" indent="0" algn="just">
              <a:buNone/>
            </a:pPr>
            <a:r>
              <a:rPr lang="en-US" sz="1200" dirty="0" err="1"/>
              <a:t>Lingkungan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 juga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dikategorikan</a:t>
            </a:r>
            <a:r>
              <a:rPr lang="en-US" sz="1200" dirty="0"/>
              <a:t> </a:t>
            </a:r>
            <a:r>
              <a:rPr lang="en-US" sz="1200" dirty="0" err="1"/>
              <a:t>berdasarkan</a:t>
            </a:r>
            <a:r>
              <a:rPr lang="en-US" sz="1200" dirty="0"/>
              <a:t> </a:t>
            </a:r>
            <a:r>
              <a:rPr lang="en-US" sz="1200" dirty="0" err="1"/>
              <a:t>kemiripannya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enam</a:t>
            </a:r>
            <a:r>
              <a:rPr lang="en-US" sz="1200" dirty="0"/>
              <a:t> model </a:t>
            </a:r>
            <a:r>
              <a:rPr lang="en-US" sz="1200" dirty="0" err="1"/>
              <a:t>lingkungan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 yang </a:t>
            </a:r>
            <a:r>
              <a:rPr lang="en-US" sz="1200" dirty="0" err="1"/>
              <a:t>serupa</a:t>
            </a:r>
            <a:r>
              <a:rPr lang="en-US" sz="1200" dirty="0"/>
              <a:t>. Karena orang </a:t>
            </a:r>
            <a:r>
              <a:rPr lang="en-US" sz="1200" dirty="0" err="1"/>
              <a:t>mencari</a:t>
            </a:r>
            <a:r>
              <a:rPr lang="en-US" sz="1200" dirty="0"/>
              <a:t> </a:t>
            </a:r>
            <a:r>
              <a:rPr lang="en-US" sz="1200" dirty="0" err="1"/>
              <a:t>lingkungan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 yang </a:t>
            </a:r>
            <a:r>
              <a:rPr lang="en-US" sz="1200" dirty="0" err="1"/>
              <a:t>memungkinkan</a:t>
            </a:r>
            <a:r>
              <a:rPr lang="en-US" sz="1200" dirty="0"/>
              <a:t>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mengekspresikan</a:t>
            </a:r>
            <a:r>
              <a:rPr lang="en-US" sz="1200" dirty="0"/>
              <a:t> </a:t>
            </a:r>
            <a:r>
              <a:rPr lang="en-US" sz="1200" dirty="0" err="1"/>
              <a:t>minat</a:t>
            </a:r>
            <a:r>
              <a:rPr lang="en-US" sz="1200" dirty="0"/>
              <a:t>, </a:t>
            </a:r>
            <a:r>
              <a:rPr lang="en-US" sz="1200" dirty="0" err="1"/>
              <a:t>keterampilan</a:t>
            </a:r>
            <a:r>
              <a:rPr lang="en-US" sz="1200" dirty="0"/>
              <a:t>, </a:t>
            </a:r>
            <a:r>
              <a:rPr lang="en-US" sz="1200" dirty="0" err="1"/>
              <a:t>sikap</a:t>
            </a:r>
            <a:r>
              <a:rPr lang="en-US" sz="1200" dirty="0"/>
              <a:t> dan </a:t>
            </a:r>
            <a:r>
              <a:rPr lang="en-US" sz="1200" dirty="0" err="1"/>
              <a:t>nilai-nilai</a:t>
            </a:r>
            <a:r>
              <a:rPr lang="en-US" sz="1200" dirty="0"/>
              <a:t> </a:t>
            </a:r>
            <a:r>
              <a:rPr lang="en-US" sz="1200" dirty="0" err="1"/>
              <a:t>mereka</a:t>
            </a:r>
            <a:r>
              <a:rPr lang="en-US" sz="1200" dirty="0"/>
              <a:t>, </a:t>
            </a:r>
            <a:r>
              <a:rPr lang="en-US" sz="1200" dirty="0" err="1"/>
              <a:t>serta</a:t>
            </a:r>
            <a:r>
              <a:rPr lang="en-US" sz="1200" dirty="0"/>
              <a:t> </a:t>
            </a:r>
            <a:r>
              <a:rPr lang="en-US" sz="1200" dirty="0" err="1"/>
              <a:t>mengambil</a:t>
            </a:r>
            <a:r>
              <a:rPr lang="en-US" sz="1200" dirty="0"/>
              <a:t> </a:t>
            </a:r>
            <a:r>
              <a:rPr lang="en-US" sz="1200" dirty="0" err="1"/>
              <a:t>isu</a:t>
            </a:r>
            <a:r>
              <a:rPr lang="en-US" sz="1200" dirty="0"/>
              <a:t> yang </a:t>
            </a:r>
            <a:r>
              <a:rPr lang="en-US" sz="1200" dirty="0" err="1"/>
              <a:t>menarik</a:t>
            </a:r>
            <a:r>
              <a:rPr lang="en-US" sz="1200" dirty="0"/>
              <a:t> dan </a:t>
            </a:r>
            <a:r>
              <a:rPr lang="en-US" sz="1200" dirty="0" err="1"/>
              <a:t>peran</a:t>
            </a:r>
            <a:r>
              <a:rPr lang="en-US" sz="1200" dirty="0"/>
              <a:t> yang </a:t>
            </a:r>
            <a:r>
              <a:rPr lang="en-US" sz="1200" dirty="0" err="1"/>
              <a:t>menyenangkan</a:t>
            </a:r>
            <a:r>
              <a:rPr lang="en-US" sz="1200" dirty="0"/>
              <a:t>, </a:t>
            </a:r>
            <a:r>
              <a:rPr lang="en-US" sz="1200" dirty="0" err="1"/>
              <a:t>lingkungan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tempat</a:t>
            </a:r>
            <a:r>
              <a:rPr lang="en-US" sz="1200" dirty="0"/>
              <a:t> yang </a:t>
            </a:r>
            <a:r>
              <a:rPr lang="en-US" sz="1200" dirty="0" err="1"/>
              <a:t>dipilihi</a:t>
            </a:r>
            <a:r>
              <a:rPr lang="en-US" sz="1200" dirty="0"/>
              <a:t> oleh </a:t>
            </a:r>
            <a:r>
              <a:rPr lang="en-US" sz="1200" dirty="0" err="1"/>
              <a:t>individu-individu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kepribadian</a:t>
            </a:r>
            <a:r>
              <a:rPr lang="en-US" sz="1200" dirty="0"/>
              <a:t> </a:t>
            </a:r>
            <a:r>
              <a:rPr lang="en-US" sz="1200" dirty="0" err="1"/>
              <a:t>pekerjaan</a:t>
            </a:r>
            <a:r>
              <a:rPr lang="en-US" sz="1200" dirty="0"/>
              <a:t> yang </a:t>
            </a:r>
            <a:r>
              <a:rPr lang="en-US" sz="1200" dirty="0" err="1"/>
              <a:t>terkait</a:t>
            </a:r>
            <a:r>
              <a:rPr lang="en-US" sz="1200" dirty="0"/>
              <a:t>.</a:t>
            </a:r>
          </a:p>
          <a:p>
            <a:pPr marL="0" indent="0" algn="just">
              <a:buNone/>
            </a:pPr>
            <a:r>
              <a:rPr lang="en-US" sz="1200" b="1" dirty="0" err="1"/>
              <a:t>Enam</a:t>
            </a:r>
            <a:r>
              <a:rPr lang="en-US" sz="1200" b="1" dirty="0"/>
              <a:t> </a:t>
            </a:r>
            <a:r>
              <a:rPr lang="en-US" sz="1200" b="1" dirty="0" err="1"/>
              <a:t>Tipe</a:t>
            </a:r>
            <a:r>
              <a:rPr lang="en-US" sz="1200" b="1" dirty="0"/>
              <a:t> </a:t>
            </a:r>
            <a:r>
              <a:rPr lang="en-US" sz="1200" b="1" dirty="0" err="1"/>
              <a:t>Kepribadian</a:t>
            </a:r>
            <a:r>
              <a:rPr lang="en-US" sz="1200" b="1" dirty="0"/>
              <a:t> Holland</a:t>
            </a:r>
          </a:p>
          <a:p>
            <a:pPr marL="0" indent="0" algn="just">
              <a:buNone/>
            </a:pPr>
            <a:r>
              <a:rPr lang="en-US" sz="1200" dirty="0" err="1"/>
              <a:t>Penggambaran</a:t>
            </a:r>
            <a:r>
              <a:rPr lang="en-US" sz="1200" dirty="0"/>
              <a:t>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kepribadian</a:t>
            </a:r>
            <a:r>
              <a:rPr lang="en-US" sz="1200" dirty="0"/>
              <a:t> Holland </a:t>
            </a:r>
            <a:r>
              <a:rPr lang="en-US" sz="1200" dirty="0" err="1"/>
              <a:t>mengacu</a:t>
            </a:r>
            <a:r>
              <a:rPr lang="en-US" sz="1200" dirty="0"/>
              <a:t> pada </a:t>
            </a:r>
            <a:r>
              <a:rPr lang="en-US" sz="1200" dirty="0" err="1"/>
              <a:t>tipe</a:t>
            </a:r>
            <a:r>
              <a:rPr lang="en-US" sz="1200" dirty="0"/>
              <a:t> ideal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murni</a:t>
            </a:r>
            <a:r>
              <a:rPr lang="en-US" sz="1200" dirty="0"/>
              <a:t>.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kepribadian</a:t>
            </a:r>
            <a:r>
              <a:rPr lang="en-US" sz="1200" dirty="0"/>
              <a:t> Holland </a:t>
            </a:r>
            <a:r>
              <a:rPr lang="en-US" sz="1200" dirty="0" err="1"/>
              <a:t>secara</a:t>
            </a:r>
            <a:r>
              <a:rPr lang="en-US" sz="1200" dirty="0"/>
              <a:t> visual </a:t>
            </a:r>
            <a:r>
              <a:rPr lang="en-US" sz="1200" dirty="0" err="1"/>
              <a:t>diwakili</a:t>
            </a:r>
            <a:r>
              <a:rPr lang="en-US" sz="1200" dirty="0"/>
              <a:t> oleh model </a:t>
            </a:r>
            <a:r>
              <a:rPr lang="en-US" sz="1200" dirty="0" err="1"/>
              <a:t>heksagonal</a:t>
            </a:r>
            <a:r>
              <a:rPr lang="en-US" sz="1200" dirty="0"/>
              <a:t>. </a:t>
            </a:r>
            <a:r>
              <a:rPr lang="en-US" sz="1200" dirty="0" err="1"/>
              <a:t>Tipe-tipe</a:t>
            </a:r>
            <a:r>
              <a:rPr lang="en-US" sz="1200" dirty="0"/>
              <a:t> yang paling </a:t>
            </a:r>
            <a:r>
              <a:rPr lang="en-US" sz="1200" dirty="0" err="1"/>
              <a:t>dekat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sama</a:t>
            </a:r>
            <a:r>
              <a:rPr lang="en-US" sz="1200" dirty="0"/>
              <a:t> lain pada </a:t>
            </a:r>
            <a:r>
              <a:rPr lang="en-US" sz="1200" dirty="0" err="1"/>
              <a:t>segi</a:t>
            </a:r>
            <a:r>
              <a:rPr lang="en-US" sz="1200" dirty="0"/>
              <a:t> </a:t>
            </a:r>
            <a:r>
              <a:rPr lang="en-US" sz="1200" dirty="0" err="1"/>
              <a:t>enam</a:t>
            </a:r>
            <a:r>
              <a:rPr lang="en-US" sz="1200" dirty="0"/>
              <a:t> </a:t>
            </a:r>
            <a:r>
              <a:rPr lang="en-US" sz="1200" dirty="0" err="1"/>
              <a:t>mempunyai</a:t>
            </a:r>
            <a:r>
              <a:rPr lang="en-US" sz="1200" dirty="0"/>
              <a:t> </a:t>
            </a:r>
            <a:r>
              <a:rPr lang="en-US" sz="1200" dirty="0" err="1"/>
              <a:t>karakteristik</a:t>
            </a:r>
            <a:r>
              <a:rPr lang="en-US" sz="1200" dirty="0"/>
              <a:t> paling </a:t>
            </a:r>
            <a:r>
              <a:rPr lang="en-US" sz="1200" dirty="0" err="1"/>
              <a:t>umum</a:t>
            </a:r>
            <a:r>
              <a:rPr lang="en-US" sz="1200" dirty="0"/>
              <a:t>. </a:t>
            </a:r>
            <a:r>
              <a:rPr lang="en-US" sz="1200" dirty="0" err="1"/>
              <a:t>Tipe-tipe</a:t>
            </a:r>
            <a:r>
              <a:rPr lang="en-US" sz="1200" dirty="0"/>
              <a:t> yang </a:t>
            </a:r>
            <a:r>
              <a:rPr lang="en-US" sz="1200" dirty="0" err="1"/>
              <a:t>berjauhan</a:t>
            </a:r>
            <a:r>
              <a:rPr lang="en-US" sz="1200" dirty="0"/>
              <a:t>, </a:t>
            </a:r>
            <a:r>
              <a:rPr lang="en-US" sz="1200" dirty="0" err="1"/>
              <a:t>yaitu</a:t>
            </a:r>
            <a:r>
              <a:rPr lang="en-US" sz="1200" dirty="0"/>
              <a:t> </a:t>
            </a:r>
            <a:r>
              <a:rPr lang="en-US" sz="1200" dirty="0" err="1"/>
              <a:t>berlawanan</a:t>
            </a:r>
            <a:r>
              <a:rPr lang="en-US" sz="1200" dirty="0"/>
              <a:t> pada </a:t>
            </a:r>
            <a:r>
              <a:rPr lang="en-US" sz="1200" dirty="0" err="1"/>
              <a:t>segi</a:t>
            </a:r>
            <a:r>
              <a:rPr lang="en-US" sz="1200" dirty="0"/>
              <a:t> </a:t>
            </a:r>
            <a:r>
              <a:rPr lang="en-US" sz="1200" dirty="0" err="1"/>
              <a:t>enam</a:t>
            </a:r>
            <a:r>
              <a:rPr lang="en-US" sz="1200" dirty="0"/>
              <a:t>, </a:t>
            </a:r>
            <a:r>
              <a:rPr lang="en-US" sz="1200" dirty="0" err="1"/>
              <a:t>mempunyai</a:t>
            </a:r>
            <a:r>
              <a:rPr lang="en-US" sz="1200" dirty="0"/>
              <a:t> </a:t>
            </a:r>
            <a:r>
              <a:rPr lang="en-US" sz="1200" dirty="0" err="1"/>
              <a:t>persamaan</a:t>
            </a:r>
            <a:r>
              <a:rPr lang="en-US" sz="1200" dirty="0"/>
              <a:t> yang paling </a:t>
            </a:r>
            <a:r>
              <a:rPr lang="en-US" sz="1200" dirty="0" err="1"/>
              <a:t>sedikit</a:t>
            </a:r>
            <a:r>
              <a:rPr lang="en-US" sz="1200" dirty="0"/>
              <a:t>.</a:t>
            </a:r>
          </a:p>
          <a:p>
            <a:pPr marL="0" indent="0" algn="just">
              <a:buNone/>
            </a:pPr>
            <a:r>
              <a:rPr lang="en-US" sz="1200" dirty="0"/>
              <a:t>Di </a:t>
            </a:r>
            <a:r>
              <a:rPr lang="en-US" sz="1200" dirty="0" err="1"/>
              <a:t>bawah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tercantum</a:t>
            </a:r>
            <a:r>
              <a:rPr lang="en-US" sz="1200" dirty="0"/>
              <a:t> </a:t>
            </a:r>
            <a:r>
              <a:rPr lang="en-US" sz="1200" dirty="0" err="1"/>
              <a:t>enam</a:t>
            </a:r>
            <a:r>
              <a:rPr lang="en-US" sz="1200" dirty="0"/>
              <a:t> (6)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Kepribadian</a:t>
            </a:r>
            <a:r>
              <a:rPr lang="en-US" sz="1200" dirty="0"/>
              <a:t> </a:t>
            </a:r>
            <a:r>
              <a:rPr lang="en-US" sz="1200" dirty="0" err="1"/>
              <a:t>Pekerjaan</a:t>
            </a:r>
            <a:r>
              <a:rPr lang="en-US" sz="1200" dirty="0"/>
              <a:t> Holland. </a:t>
            </a:r>
            <a:r>
              <a:rPr lang="en-US" sz="1200" dirty="0" err="1"/>
              <a:t>Deskripsi</a:t>
            </a:r>
            <a:r>
              <a:rPr lang="en-US" sz="1200" dirty="0"/>
              <a:t> “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murni</a:t>
            </a:r>
            <a:r>
              <a:rPr lang="en-US" sz="1200" dirty="0"/>
              <a:t>” </a:t>
            </a:r>
            <a:r>
              <a:rPr lang="en-US" sz="1200" dirty="0" err="1"/>
              <a:t>jarang</a:t>
            </a:r>
            <a:r>
              <a:rPr lang="en-US" sz="1200" dirty="0"/>
              <a:t> </a:t>
            </a:r>
            <a:r>
              <a:rPr lang="en-US" sz="1200" dirty="0" err="1"/>
              <a:t>sekali</a:t>
            </a:r>
            <a:r>
              <a:rPr lang="en-US" sz="1200" dirty="0"/>
              <a:t> </a:t>
            </a:r>
            <a:r>
              <a:rPr lang="en-US" sz="1200" dirty="0" err="1"/>
              <a:t>cocok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orang. </a:t>
            </a:r>
            <a:r>
              <a:rPr lang="en-US" sz="1200" dirty="0" err="1"/>
              <a:t>Kepribadian</a:t>
            </a:r>
            <a:r>
              <a:rPr lang="en-US" sz="1200" dirty="0"/>
              <a:t> Anda </a:t>
            </a:r>
            <a:r>
              <a:rPr lang="en-US" sz="1200" dirty="0" err="1"/>
              <a:t>kemungkinan</a:t>
            </a:r>
            <a:r>
              <a:rPr lang="en-US" sz="1200" dirty="0"/>
              <a:t> </a:t>
            </a:r>
            <a:r>
              <a:rPr lang="en-US" sz="1200" dirty="0" err="1"/>
              <a:t>besar</a:t>
            </a:r>
            <a:r>
              <a:rPr lang="en-US" sz="1200" dirty="0"/>
              <a:t> </a:t>
            </a:r>
            <a:r>
              <a:rPr lang="en-US" sz="1200" dirty="0" err="1"/>
              <a:t>akan</a:t>
            </a:r>
            <a:r>
              <a:rPr lang="en-US" sz="1200" dirty="0"/>
              <a:t> </a:t>
            </a:r>
            <a:r>
              <a:rPr lang="en-US" sz="1200" dirty="0" err="1"/>
              <a:t>menggabungkan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tingkat</a:t>
            </a:r>
            <a:r>
              <a:rPr lang="en-US" sz="1200" dirty="0"/>
              <a:t> yang </a:t>
            </a:r>
            <a:r>
              <a:rPr lang="en-US" sz="1200" dirty="0" err="1"/>
              <a:t>berbeda-beda</a:t>
            </a:r>
            <a:r>
              <a:rPr lang="en-US" sz="1200" dirty="0"/>
              <a:t>.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mendapatkan</a:t>
            </a:r>
            <a:r>
              <a:rPr lang="en-US" sz="1200" dirty="0"/>
              <a:t> </a:t>
            </a:r>
            <a:r>
              <a:rPr lang="en-US" sz="1200" dirty="0" err="1"/>
              <a:t>gambaran</a:t>
            </a:r>
            <a:r>
              <a:rPr lang="en-US" sz="1200" dirty="0"/>
              <a:t> yang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baik</a:t>
            </a:r>
            <a:r>
              <a:rPr lang="en-US" sz="1200" dirty="0"/>
              <a:t> </a:t>
            </a:r>
            <a:r>
              <a:rPr lang="en-US" sz="1200" dirty="0" err="1"/>
              <a:t>tentang</a:t>
            </a:r>
            <a:r>
              <a:rPr lang="en-US" sz="1200" dirty="0"/>
              <a:t> </a:t>
            </a:r>
            <a:r>
              <a:rPr lang="en-US" sz="1200" dirty="0" err="1"/>
              <a:t>bagaimana</a:t>
            </a:r>
            <a:r>
              <a:rPr lang="en-US" sz="1200" dirty="0"/>
              <a:t> </a:t>
            </a:r>
            <a:r>
              <a:rPr lang="en-US" sz="1200" dirty="0" err="1"/>
              <a:t>minat</a:t>
            </a:r>
            <a:r>
              <a:rPr lang="en-US" sz="1200" dirty="0"/>
              <a:t> dan </a:t>
            </a:r>
            <a:r>
              <a:rPr lang="en-US" sz="1200" dirty="0" err="1"/>
              <a:t>keterampilan</a:t>
            </a:r>
            <a:r>
              <a:rPr lang="en-US" sz="1200" dirty="0"/>
              <a:t> Anda </a:t>
            </a:r>
            <a:r>
              <a:rPr lang="en-US" sz="1200" dirty="0" err="1"/>
              <a:t>berhubungan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tipe-tipe</a:t>
            </a:r>
            <a:r>
              <a:rPr lang="en-US" sz="1200" dirty="0"/>
              <a:t> </a:t>
            </a:r>
            <a:r>
              <a:rPr lang="en-US" sz="1200" dirty="0" err="1"/>
              <a:t>tersebut</a:t>
            </a:r>
            <a:r>
              <a:rPr lang="en-US" sz="1200" dirty="0"/>
              <a:t> dan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mengidentifikasi</a:t>
            </a:r>
            <a:r>
              <a:rPr lang="en-US" sz="1200" dirty="0"/>
              <a:t>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dominan</a:t>
            </a:r>
            <a:r>
              <a:rPr lang="en-US" sz="1200" dirty="0"/>
              <a:t> Anda, Anda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menyorot</a:t>
            </a:r>
            <a:r>
              <a:rPr lang="en-US" sz="1200" dirty="0"/>
              <a:t> </a:t>
            </a:r>
            <a:r>
              <a:rPr lang="en-US" sz="1200" dirty="0" err="1"/>
              <a:t>frasa-frasa</a:t>
            </a:r>
            <a:r>
              <a:rPr lang="en-US" sz="1200" dirty="0"/>
              <a:t> di </a:t>
            </a:r>
            <a:r>
              <a:rPr lang="en-US" sz="1200" dirty="0" err="1"/>
              <a:t>setiap</a:t>
            </a:r>
            <a:r>
              <a:rPr lang="en-US" sz="1200" dirty="0"/>
              <a:t> </a:t>
            </a:r>
            <a:r>
              <a:rPr lang="en-US" sz="1200" dirty="0" err="1"/>
              <a:t>deskripsi</a:t>
            </a:r>
            <a:r>
              <a:rPr lang="en-US" sz="1200" dirty="0"/>
              <a:t> yang </a:t>
            </a:r>
            <a:r>
              <a:rPr lang="en-US" sz="1200" dirty="0" err="1"/>
              <a:t>sesuai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Anda.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7F2A23-50CA-26A9-CC5D-40A5CA461B32}"/>
              </a:ext>
            </a:extLst>
          </p:cNvPr>
          <p:cNvSpPr txBox="1"/>
          <p:nvPr/>
        </p:nvSpPr>
        <p:spPr>
          <a:xfrm>
            <a:off x="838199" y="2788151"/>
            <a:ext cx="24584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Cara </a:t>
            </a:r>
            <a:r>
              <a:rPr lang="en-US" dirty="0" err="1"/>
              <a:t>cepat</a:t>
            </a:r>
            <a:r>
              <a:rPr lang="en-US" dirty="0"/>
              <a:t>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bermanfaat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mempelajari</a:t>
            </a:r>
            <a:r>
              <a:rPr lang="en-US" dirty="0"/>
              <a:t> </a:t>
            </a:r>
            <a:r>
              <a:rPr lang="en-US" dirty="0" err="1"/>
              <a:t>minat</a:t>
            </a:r>
            <a:r>
              <a:rPr lang="en-US" dirty="0"/>
              <a:t>, </a:t>
            </a:r>
            <a:r>
              <a:rPr lang="en-US" dirty="0" err="1"/>
              <a:t>Bakat</a:t>
            </a:r>
            <a:r>
              <a:rPr lang="en-US" dirty="0"/>
              <a:t> dan </a:t>
            </a:r>
            <a:r>
              <a:rPr lang="en-US" dirty="0" err="1"/>
              <a:t>pilihan</a:t>
            </a:r>
            <a:r>
              <a:rPr lang="en-US" dirty="0"/>
              <a:t> </a:t>
            </a:r>
            <a:r>
              <a:rPr lang="en-US" dirty="0" err="1"/>
              <a:t>karier</a:t>
            </a:r>
            <a:r>
              <a:rPr lang="en-US" dirty="0"/>
              <a:t> Anda, </a:t>
            </a:r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i="1" dirty="0"/>
              <a:t>Holland’s Career Code.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2256D43-51AB-382F-B7A3-9C0A073E0D61}"/>
              </a:ext>
            </a:extLst>
          </p:cNvPr>
          <p:cNvSpPr txBox="1">
            <a:spLocks/>
          </p:cNvSpPr>
          <p:nvPr/>
        </p:nvSpPr>
        <p:spPr>
          <a:xfrm>
            <a:off x="838200" y="293449"/>
            <a:ext cx="10515600" cy="10185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Profiling </a:t>
            </a:r>
            <a:r>
              <a:rPr lang="en-US" sz="3200" b="1" dirty="0" err="1"/>
              <a:t>Potensi</a:t>
            </a:r>
            <a:r>
              <a:rPr lang="en-US" sz="3200" b="1" dirty="0"/>
              <a:t> </a:t>
            </a:r>
            <a:r>
              <a:rPr lang="en-US" sz="3200" b="1" dirty="0" err="1"/>
              <a:t>Minat</a:t>
            </a:r>
            <a:r>
              <a:rPr lang="en-US" sz="3200" b="1" dirty="0"/>
              <a:t>, </a:t>
            </a:r>
            <a:r>
              <a:rPr lang="en-US" sz="3200" b="1" dirty="0" err="1"/>
              <a:t>Bakat</a:t>
            </a:r>
            <a:r>
              <a:rPr lang="en-US" sz="3200" b="1" dirty="0"/>
              <a:t> dan </a:t>
            </a:r>
            <a:r>
              <a:rPr lang="en-US" sz="3200" b="1" dirty="0" err="1"/>
              <a:t>Pilihan</a:t>
            </a:r>
            <a:r>
              <a:rPr lang="en-US" sz="3200" b="1" dirty="0"/>
              <a:t> </a:t>
            </a:r>
            <a:r>
              <a:rPr lang="en-US" sz="3200" b="1" dirty="0" err="1"/>
              <a:t>Pekerjaan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281189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5B7739C-7CE9-ED2E-6241-6C8A2A8B2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0851" y="1236077"/>
            <a:ext cx="9216191" cy="525679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200" b="1" i="1" dirty="0" err="1"/>
              <a:t>Tipe</a:t>
            </a:r>
            <a:r>
              <a:rPr lang="en-US" sz="1200" b="1" i="1" dirty="0"/>
              <a:t> 1 – </a:t>
            </a:r>
            <a:r>
              <a:rPr lang="en-US" sz="1200" b="1" i="1" dirty="0" err="1"/>
              <a:t>Tipe</a:t>
            </a:r>
            <a:r>
              <a:rPr lang="en-US" sz="1200" b="1" i="1" dirty="0"/>
              <a:t> </a:t>
            </a:r>
            <a:r>
              <a:rPr lang="en-US" sz="1200" b="1" i="1" dirty="0" err="1"/>
              <a:t>Realistis</a:t>
            </a:r>
            <a:endParaRPr lang="en-US" sz="1200" b="1" i="1" dirty="0"/>
          </a:p>
          <a:p>
            <a:pPr marL="0" indent="0" algn="just">
              <a:buNone/>
            </a:pPr>
            <a:r>
              <a:rPr lang="en-US" sz="1200" dirty="0" err="1"/>
              <a:t>Individu</a:t>
            </a:r>
            <a:r>
              <a:rPr lang="en-US" sz="1200" dirty="0"/>
              <a:t> yang </a:t>
            </a:r>
            <a:r>
              <a:rPr lang="en-US" sz="1200" dirty="0" err="1"/>
              <a:t>realistis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individu</a:t>
            </a:r>
            <a:r>
              <a:rPr lang="en-US" sz="1200" dirty="0"/>
              <a:t> yang </a:t>
            </a:r>
            <a:r>
              <a:rPr lang="en-US" sz="1200" dirty="0" err="1"/>
              <a:t>aktif</a:t>
            </a:r>
            <a:r>
              <a:rPr lang="en-US" sz="1200" dirty="0"/>
              <a:t> dan </a:t>
            </a:r>
            <a:r>
              <a:rPr lang="en-US" sz="1200" dirty="0" err="1"/>
              <a:t>stabil</a:t>
            </a:r>
            <a:r>
              <a:rPr lang="en-US" sz="1200" dirty="0"/>
              <a:t> </a:t>
            </a:r>
            <a:r>
              <a:rPr lang="en-US" sz="1200" dirty="0" err="1"/>
              <a:t>serta</a:t>
            </a:r>
            <a:r>
              <a:rPr lang="en-US" sz="1200" dirty="0"/>
              <a:t> </a:t>
            </a:r>
            <a:r>
              <a:rPr lang="en-US" sz="1200" dirty="0" err="1"/>
              <a:t>menikmati</a:t>
            </a:r>
            <a:r>
              <a:rPr lang="en-US" sz="1200" dirty="0"/>
              <a:t> </a:t>
            </a:r>
            <a:r>
              <a:rPr lang="en-US" sz="1200" dirty="0" err="1"/>
              <a:t>aktivitas</a:t>
            </a:r>
            <a:r>
              <a:rPr lang="en-US" sz="1200" dirty="0"/>
              <a:t> </a:t>
            </a:r>
            <a:r>
              <a:rPr lang="en-US" sz="1200" dirty="0" err="1"/>
              <a:t>langsung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manual,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bangunan</a:t>
            </a:r>
            <a:r>
              <a:rPr lang="en-US" sz="1200" dirty="0"/>
              <a:t>, </a:t>
            </a:r>
            <a:r>
              <a:rPr lang="en-US" sz="1200" dirty="0" err="1"/>
              <a:t>mekanik</a:t>
            </a:r>
            <a:r>
              <a:rPr lang="en-US" sz="1200" dirty="0"/>
              <a:t>, </a:t>
            </a:r>
            <a:r>
              <a:rPr lang="en-US" sz="1200" dirty="0" err="1"/>
              <a:t>pengoperasian</a:t>
            </a:r>
            <a:r>
              <a:rPr lang="en-US" sz="1200" dirty="0"/>
              <a:t> </a:t>
            </a:r>
            <a:r>
              <a:rPr lang="en-US" sz="1200" dirty="0" err="1"/>
              <a:t>mesin</a:t>
            </a:r>
            <a:r>
              <a:rPr lang="en-US" sz="1200" dirty="0"/>
              <a:t>, dan </a:t>
            </a:r>
            <a:r>
              <a:rPr lang="en-US" sz="1200" dirty="0" err="1"/>
              <a:t>atletik</a:t>
            </a:r>
            <a:r>
              <a:rPr lang="en-US" sz="1200" dirty="0"/>
              <a:t>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suka</a:t>
            </a:r>
            <a:r>
              <a:rPr lang="en-US" sz="1200" dirty="0"/>
              <a:t> </a:t>
            </a:r>
            <a:r>
              <a:rPr lang="en-US" sz="1200" dirty="0" err="1"/>
              <a:t>bekerja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benda</a:t>
            </a:r>
            <a:r>
              <a:rPr lang="en-US" sz="1200" dirty="0"/>
              <a:t> </a:t>
            </a:r>
            <a:r>
              <a:rPr lang="en-US" sz="1200" dirty="0" err="1"/>
              <a:t>dibandingkan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ide dan </a:t>
            </a:r>
            <a:r>
              <a:rPr lang="en-US" sz="1200" dirty="0" err="1"/>
              <a:t>manusia</a:t>
            </a:r>
            <a:r>
              <a:rPr lang="en-US" sz="1200" dirty="0"/>
              <a:t>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senang</a:t>
            </a:r>
            <a:r>
              <a:rPr lang="en-US" sz="1200" dirty="0"/>
              <a:t> </a:t>
            </a:r>
            <a:r>
              <a:rPr lang="en-US" sz="1200" dirty="0" err="1"/>
              <a:t>melakukan</a:t>
            </a:r>
            <a:r>
              <a:rPr lang="en-US" sz="1200" dirty="0"/>
              <a:t> </a:t>
            </a:r>
            <a:r>
              <a:rPr lang="en-US" sz="1200" dirty="0" err="1"/>
              <a:t>aktivitas</a:t>
            </a:r>
            <a:r>
              <a:rPr lang="en-US" sz="1200" dirty="0"/>
              <a:t> </a:t>
            </a:r>
            <a:r>
              <a:rPr lang="en-US" sz="1200" dirty="0" err="1"/>
              <a:t>fisik</a:t>
            </a:r>
            <a:r>
              <a:rPr lang="en-US" sz="1200" dirty="0"/>
              <a:t> dan </a:t>
            </a:r>
            <a:r>
              <a:rPr lang="en-US" sz="1200" dirty="0" err="1"/>
              <a:t>sering</a:t>
            </a:r>
            <a:r>
              <a:rPr lang="en-US" sz="1200" dirty="0"/>
              <a:t> kali </a:t>
            </a:r>
            <a:r>
              <a:rPr lang="en-US" sz="1200" dirty="0" err="1"/>
              <a:t>suka</a:t>
            </a:r>
            <a:r>
              <a:rPr lang="en-US" sz="1200" dirty="0"/>
              <a:t> </a:t>
            </a:r>
            <a:r>
              <a:rPr lang="en-US" sz="1200" dirty="0" err="1"/>
              <a:t>berada</a:t>
            </a:r>
            <a:r>
              <a:rPr lang="en-US" sz="1200" dirty="0"/>
              <a:t> di </a:t>
            </a:r>
            <a:r>
              <a:rPr lang="en-US" sz="1200" dirty="0" err="1"/>
              <a:t>luar</a:t>
            </a:r>
            <a:r>
              <a:rPr lang="en-US" sz="1200" dirty="0"/>
              <a:t> </a:t>
            </a:r>
            <a:r>
              <a:rPr lang="en-US" sz="1200" dirty="0" err="1"/>
              <a:t>ruangan</a:t>
            </a:r>
            <a:r>
              <a:rPr lang="en-US" sz="1200" dirty="0"/>
              <a:t> </a:t>
            </a:r>
            <a:r>
              <a:rPr lang="en-US" sz="1200" dirty="0" err="1"/>
              <a:t>serta</a:t>
            </a:r>
            <a:r>
              <a:rPr lang="en-US" sz="1200" dirty="0"/>
              <a:t> </a:t>
            </a:r>
            <a:r>
              <a:rPr lang="en-US" sz="1200" dirty="0" err="1"/>
              <a:t>bekerja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tumbuhan</a:t>
            </a:r>
            <a:r>
              <a:rPr lang="en-US" sz="1200" dirty="0"/>
              <a:t> dan </a:t>
            </a:r>
            <a:r>
              <a:rPr lang="en-US" sz="1200" dirty="0" err="1"/>
              <a:t>hewan</a:t>
            </a:r>
            <a:r>
              <a:rPr lang="en-US" sz="1200" dirty="0"/>
              <a:t>. Orang-orang yang </a:t>
            </a:r>
            <a:r>
              <a:rPr lang="en-US" sz="1200" dirty="0" err="1"/>
              <a:t>termasuk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kategori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umumnya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memilih</a:t>
            </a:r>
            <a:r>
              <a:rPr lang="en-US" sz="1200" dirty="0"/>
              <a:t> “</a:t>
            </a:r>
            <a:r>
              <a:rPr lang="en-US" sz="1200" dirty="0" err="1"/>
              <a:t>belajar</a:t>
            </a:r>
            <a:r>
              <a:rPr lang="en-US" sz="1200" dirty="0"/>
              <a:t> </a:t>
            </a:r>
            <a:r>
              <a:rPr lang="en-US" sz="1200" dirty="0" err="1"/>
              <a:t>sambil</a:t>
            </a:r>
            <a:r>
              <a:rPr lang="en-US" sz="1200" dirty="0"/>
              <a:t> </a:t>
            </a:r>
            <a:r>
              <a:rPr lang="en-US" sz="1200" dirty="0" err="1"/>
              <a:t>melakukan</a:t>
            </a:r>
            <a:r>
              <a:rPr lang="en-US" sz="1200" dirty="0"/>
              <a:t>”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lingkungan</a:t>
            </a:r>
            <a:r>
              <a:rPr lang="en-US" sz="1200" dirty="0"/>
              <a:t> yang </a:t>
            </a:r>
            <a:r>
              <a:rPr lang="en-US" sz="1200" dirty="0" err="1"/>
              <a:t>praktis</a:t>
            </a:r>
            <a:r>
              <a:rPr lang="en-US" sz="1200" dirty="0"/>
              <a:t> dan </a:t>
            </a:r>
            <a:r>
              <a:rPr lang="en-US" sz="1200" dirty="0" err="1"/>
              <a:t>berorientasi</a:t>
            </a:r>
            <a:r>
              <a:rPr lang="en-US" sz="1200" dirty="0"/>
              <a:t> pada </a:t>
            </a:r>
            <a:r>
              <a:rPr lang="en-US" sz="1200" dirty="0" err="1"/>
              <a:t>tugas</a:t>
            </a:r>
            <a:r>
              <a:rPr lang="en-US" sz="1200" dirty="0"/>
              <a:t>, </a:t>
            </a:r>
            <a:r>
              <a:rPr lang="en-US" sz="1200" dirty="0" err="1"/>
              <a:t>dibandingkan</a:t>
            </a:r>
            <a:r>
              <a:rPr lang="en-US" sz="1200" dirty="0"/>
              <a:t> </a:t>
            </a:r>
            <a:r>
              <a:rPr lang="en-US" sz="1200" dirty="0" err="1"/>
              <a:t>menghabiskan</a:t>
            </a:r>
            <a:r>
              <a:rPr lang="en-US" sz="1200" dirty="0"/>
              <a:t> </a:t>
            </a:r>
            <a:r>
              <a:rPr lang="en-US" sz="1200" dirty="0" err="1"/>
              <a:t>waktu</a:t>
            </a:r>
            <a:r>
              <a:rPr lang="en-US" sz="1200" dirty="0"/>
              <a:t> lama di </a:t>
            </a:r>
            <a:r>
              <a:rPr lang="en-US" sz="1200" dirty="0" err="1"/>
              <a:t>ruang</a:t>
            </a:r>
            <a:r>
              <a:rPr lang="en-US" sz="1200" dirty="0"/>
              <a:t> </a:t>
            </a:r>
            <a:r>
              <a:rPr lang="en-US" sz="1200" dirty="0" err="1"/>
              <a:t>kelas</a:t>
            </a:r>
            <a:r>
              <a:rPr lang="en-US" sz="1200" dirty="0"/>
              <a:t>.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realistik</a:t>
            </a:r>
            <a:r>
              <a:rPr lang="en-US" sz="1200" dirty="0"/>
              <a:t> </a:t>
            </a:r>
            <a:r>
              <a:rPr lang="en-US" sz="1200" dirty="0" err="1"/>
              <a:t>cenderung</a:t>
            </a:r>
            <a:r>
              <a:rPr lang="en-US" sz="1200" dirty="0"/>
              <a:t> </a:t>
            </a:r>
            <a:r>
              <a:rPr lang="en-US" sz="1200" dirty="0" err="1"/>
              <a:t>berkomunikasi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jujur</a:t>
            </a:r>
            <a:r>
              <a:rPr lang="en-US" sz="1200" dirty="0"/>
              <a:t>, </a:t>
            </a:r>
            <a:r>
              <a:rPr lang="en-US" sz="1200" dirty="0" err="1"/>
              <a:t>lugas</a:t>
            </a:r>
            <a:r>
              <a:rPr lang="en-US" sz="1200" dirty="0"/>
              <a:t>, dan </a:t>
            </a:r>
            <a:r>
              <a:rPr lang="en-US" sz="1200" dirty="0" err="1"/>
              <a:t>menghargai</a:t>
            </a:r>
            <a:r>
              <a:rPr lang="en-US" sz="1200" dirty="0"/>
              <a:t> </a:t>
            </a:r>
            <a:r>
              <a:rPr lang="en-US" sz="1200" dirty="0" err="1"/>
              <a:t>materi</a:t>
            </a:r>
            <a:r>
              <a:rPr lang="en-US" sz="1200" dirty="0"/>
              <a:t>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menganggap</a:t>
            </a:r>
            <a:r>
              <a:rPr lang="en-US" sz="1200" dirty="0"/>
              <a:t> </a:t>
            </a:r>
            <a:r>
              <a:rPr lang="en-US" sz="1200" dirty="0" err="1"/>
              <a:t>diri</a:t>
            </a:r>
            <a:r>
              <a:rPr lang="en-US" sz="1200" dirty="0"/>
              <a:t>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terampil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aktivitas</a:t>
            </a:r>
            <a:r>
              <a:rPr lang="en-US" sz="1200" dirty="0"/>
              <a:t> </a:t>
            </a:r>
            <a:r>
              <a:rPr lang="en-US" sz="1200" dirty="0" err="1"/>
              <a:t>mekanis</a:t>
            </a:r>
            <a:r>
              <a:rPr lang="en-US" sz="1200" dirty="0"/>
              <a:t> dan </a:t>
            </a:r>
            <a:r>
              <a:rPr lang="en-US" sz="1200" dirty="0" err="1"/>
              <a:t>fisik</a:t>
            </a:r>
            <a:r>
              <a:rPr lang="en-US" sz="1200" dirty="0"/>
              <a:t>, </a:t>
            </a:r>
            <a:r>
              <a:rPr lang="en-US" sz="1200" dirty="0" err="1"/>
              <a:t>namun</a:t>
            </a:r>
            <a:r>
              <a:rPr lang="en-US" sz="1200" dirty="0"/>
              <a:t> </a:t>
            </a:r>
            <a:r>
              <a:rPr lang="en-US" sz="1200" dirty="0" err="1"/>
              <a:t>mungkin</a:t>
            </a:r>
            <a:r>
              <a:rPr lang="en-US" sz="1200" dirty="0"/>
              <a:t> </a:t>
            </a:r>
            <a:r>
              <a:rPr lang="en-US" sz="1200" dirty="0" err="1"/>
              <a:t>merasa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nyaman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kurang</a:t>
            </a:r>
            <a:r>
              <a:rPr lang="en-US" sz="1200" dirty="0"/>
              <a:t> </a:t>
            </a:r>
            <a:r>
              <a:rPr lang="en-US" sz="1200" dirty="0" err="1"/>
              <a:t>mahir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berhubungan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manusia</a:t>
            </a:r>
            <a:r>
              <a:rPr lang="en-US" sz="1200" dirty="0"/>
              <a:t>. </a:t>
            </a:r>
            <a:r>
              <a:rPr lang="en-US" sz="1200" dirty="0" err="1"/>
              <a:t>Lingkungan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 yang </a:t>
            </a:r>
            <a:r>
              <a:rPr lang="en-US" sz="1200" dirty="0" err="1"/>
              <a:t>disukai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realistis</a:t>
            </a:r>
            <a:r>
              <a:rPr lang="en-US" sz="1200" dirty="0"/>
              <a:t> </a:t>
            </a:r>
            <a:r>
              <a:rPr lang="en-US" sz="1200" dirty="0" err="1"/>
              <a:t>memupuk</a:t>
            </a:r>
            <a:r>
              <a:rPr lang="en-US" sz="1200" dirty="0"/>
              <a:t> </a:t>
            </a:r>
            <a:r>
              <a:rPr lang="en-US" sz="1200" dirty="0" err="1"/>
              <a:t>kompetensi</a:t>
            </a:r>
            <a:r>
              <a:rPr lang="en-US" sz="1200" dirty="0"/>
              <a:t> </a:t>
            </a:r>
            <a:r>
              <a:rPr lang="en-US" sz="1200" dirty="0" err="1"/>
              <a:t>teknis</a:t>
            </a:r>
            <a:r>
              <a:rPr lang="en-US" sz="1200" dirty="0"/>
              <a:t> dan </a:t>
            </a:r>
            <a:r>
              <a:rPr lang="en-US" sz="1200" dirty="0" err="1"/>
              <a:t>pekerjaan</a:t>
            </a:r>
            <a:r>
              <a:rPr lang="en-US" sz="1200" dirty="0"/>
              <a:t> yang </a:t>
            </a:r>
            <a:r>
              <a:rPr lang="en-US" sz="1200" dirty="0" err="1"/>
              <a:t>memungkinkan</a:t>
            </a:r>
            <a:r>
              <a:rPr lang="en-US" sz="1200" dirty="0"/>
              <a:t>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menghasilkan</a:t>
            </a:r>
            <a:r>
              <a:rPr lang="en-US" sz="1200" dirty="0"/>
              <a:t> </a:t>
            </a:r>
            <a:r>
              <a:rPr lang="en-US" sz="1200" dirty="0" err="1"/>
              <a:t>hasil</a:t>
            </a:r>
            <a:r>
              <a:rPr lang="en-US" sz="1200" dirty="0"/>
              <a:t> yang </a:t>
            </a:r>
            <a:r>
              <a:rPr lang="en-US" sz="1200" dirty="0" err="1"/>
              <a:t>nyata</a:t>
            </a:r>
            <a:r>
              <a:rPr lang="en-US" sz="1200" dirty="0"/>
              <a:t>. </a:t>
            </a:r>
            <a:r>
              <a:rPr lang="en-US" sz="1200" dirty="0" err="1"/>
              <a:t>Karier</a:t>
            </a:r>
            <a:r>
              <a:rPr lang="en-US" sz="1200" dirty="0"/>
              <a:t> </a:t>
            </a:r>
            <a:r>
              <a:rPr lang="en-US" sz="1200" dirty="0" err="1"/>
              <a:t>realistis</a:t>
            </a:r>
            <a:r>
              <a:rPr lang="en-US" sz="1200" dirty="0"/>
              <a:t> yang </a:t>
            </a:r>
            <a:r>
              <a:rPr lang="en-US" sz="1200" dirty="0" err="1"/>
              <a:t>umum</a:t>
            </a:r>
            <a:r>
              <a:rPr lang="en-US" sz="1200" dirty="0"/>
              <a:t> </a:t>
            </a:r>
            <a:r>
              <a:rPr lang="en-US" sz="1200" dirty="0" err="1"/>
              <a:t>meliputi</a:t>
            </a:r>
            <a:r>
              <a:rPr lang="en-US" sz="1200" dirty="0"/>
              <a:t> </a:t>
            </a:r>
            <a:r>
              <a:rPr lang="en-US" sz="1200" dirty="0" err="1"/>
              <a:t>tukang</a:t>
            </a:r>
            <a:r>
              <a:rPr lang="en-US" sz="1200" dirty="0"/>
              <a:t> </a:t>
            </a:r>
            <a:r>
              <a:rPr lang="en-US" sz="1200" dirty="0" err="1"/>
              <a:t>listrik</a:t>
            </a:r>
            <a:r>
              <a:rPr lang="en-US" sz="1200" dirty="0"/>
              <a:t>, </a:t>
            </a:r>
            <a:r>
              <a:rPr lang="en-US" sz="1200" dirty="0" err="1"/>
              <a:t>insinyur</a:t>
            </a:r>
            <a:r>
              <a:rPr lang="en-US" sz="1200" dirty="0"/>
              <a:t>, </a:t>
            </a:r>
            <a:r>
              <a:rPr lang="en-US" sz="1200" dirty="0" err="1"/>
              <a:t>dokter</a:t>
            </a:r>
            <a:r>
              <a:rPr lang="en-US" sz="1200" dirty="0"/>
              <a:t> </a:t>
            </a:r>
            <a:r>
              <a:rPr lang="en-US" sz="1200" dirty="0" err="1"/>
              <a:t>hewan</a:t>
            </a:r>
            <a:r>
              <a:rPr lang="en-US" sz="1200" dirty="0"/>
              <a:t>, dan </a:t>
            </a:r>
            <a:r>
              <a:rPr lang="en-US" sz="1200" dirty="0" err="1"/>
              <a:t>militer</a:t>
            </a:r>
            <a:r>
              <a:rPr lang="en-US" sz="1200" dirty="0"/>
              <a:t>.</a:t>
            </a:r>
          </a:p>
          <a:p>
            <a:pPr marL="0" indent="0" algn="just">
              <a:buNone/>
            </a:pPr>
            <a:r>
              <a:rPr lang="en-US" sz="1200" b="1" i="1" dirty="0" err="1"/>
              <a:t>Tipe</a:t>
            </a:r>
            <a:r>
              <a:rPr lang="en-US" sz="1200" b="1" i="1" dirty="0"/>
              <a:t> 2 - </a:t>
            </a:r>
            <a:r>
              <a:rPr lang="en-US" sz="1200" b="1" i="1" dirty="0" err="1"/>
              <a:t>Investigasi</a:t>
            </a:r>
            <a:r>
              <a:rPr lang="en-US" sz="1200" b="1" i="1" dirty="0"/>
              <a:t> (I)</a:t>
            </a:r>
          </a:p>
          <a:p>
            <a:pPr marL="0" indent="0" algn="just">
              <a:buNone/>
            </a:pPr>
            <a:r>
              <a:rPr lang="en-US" sz="1200" dirty="0" err="1"/>
              <a:t>Individu</a:t>
            </a:r>
            <a:r>
              <a:rPr lang="en-US" sz="1200" dirty="0"/>
              <a:t> yang </a:t>
            </a:r>
            <a:r>
              <a:rPr lang="en-US" sz="1200" dirty="0" err="1"/>
              <a:t>investigatif</a:t>
            </a:r>
            <a:r>
              <a:rPr lang="en-US" sz="1200" dirty="0"/>
              <a:t> </a:t>
            </a:r>
            <a:r>
              <a:rPr lang="en-US" sz="1200" dirty="0" err="1"/>
              <a:t>bersifat</a:t>
            </a:r>
            <a:r>
              <a:rPr lang="en-US" sz="1200" dirty="0"/>
              <a:t> </a:t>
            </a:r>
            <a:r>
              <a:rPr lang="en-US" sz="1200" dirty="0" err="1"/>
              <a:t>analitis</a:t>
            </a:r>
            <a:r>
              <a:rPr lang="en-US" sz="1200" dirty="0"/>
              <a:t>, </a:t>
            </a:r>
            <a:r>
              <a:rPr lang="en-US" sz="1200" dirty="0" err="1"/>
              <a:t>intelektual</a:t>
            </a:r>
            <a:r>
              <a:rPr lang="en-US" sz="1200" dirty="0"/>
              <a:t>, dan </a:t>
            </a:r>
            <a:r>
              <a:rPr lang="en-US" sz="1200" dirty="0" err="1"/>
              <a:t>jeli</a:t>
            </a:r>
            <a:r>
              <a:rPr lang="en-US" sz="1200" dirty="0"/>
              <a:t> </a:t>
            </a:r>
            <a:r>
              <a:rPr lang="en-US" sz="1200" dirty="0" err="1"/>
              <a:t>serta</a:t>
            </a:r>
            <a:r>
              <a:rPr lang="en-US" sz="1200" dirty="0"/>
              <a:t> </a:t>
            </a:r>
            <a:r>
              <a:rPr lang="en-US" sz="1200" dirty="0" err="1"/>
              <a:t>menikmati</a:t>
            </a:r>
            <a:r>
              <a:rPr lang="en-US" sz="1200" dirty="0"/>
              <a:t> </a:t>
            </a:r>
            <a:r>
              <a:rPr lang="en-US" sz="1200" dirty="0" err="1"/>
              <a:t>aktivitas</a:t>
            </a:r>
            <a:r>
              <a:rPr lang="en-US" sz="1200" dirty="0"/>
              <a:t> </a:t>
            </a:r>
            <a:r>
              <a:rPr lang="en-US" sz="1200" dirty="0" err="1"/>
              <a:t>penelitian</a:t>
            </a:r>
            <a:r>
              <a:rPr lang="en-US" sz="1200" dirty="0"/>
              <a:t>, </a:t>
            </a:r>
            <a:r>
              <a:rPr lang="en-US" sz="1200" dirty="0" err="1"/>
              <a:t>matematika</a:t>
            </a:r>
            <a:r>
              <a:rPr lang="en-US" sz="1200" dirty="0"/>
              <a:t>,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ilmiah</a:t>
            </a:r>
            <a:r>
              <a:rPr lang="en-US" sz="1200" dirty="0"/>
              <a:t>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tertarik</a:t>
            </a:r>
            <a:r>
              <a:rPr lang="en-US" sz="1200" dirty="0"/>
              <a:t> pada </a:t>
            </a:r>
            <a:r>
              <a:rPr lang="en-US" sz="1200" dirty="0" err="1"/>
              <a:t>tantangan</a:t>
            </a:r>
            <a:r>
              <a:rPr lang="en-US" sz="1200" dirty="0"/>
              <a:t> yang </a:t>
            </a:r>
            <a:r>
              <a:rPr lang="en-US" sz="1200" dirty="0" err="1"/>
              <a:t>ambigu</a:t>
            </a:r>
            <a:r>
              <a:rPr lang="en-US" sz="1200" dirty="0"/>
              <a:t> dan </a:t>
            </a:r>
            <a:r>
              <a:rPr lang="en-US" sz="1200" dirty="0" err="1"/>
              <a:t>mungkin</a:t>
            </a:r>
            <a:r>
              <a:rPr lang="en-US" sz="1200" dirty="0"/>
              <a:t> </a:t>
            </a:r>
            <a:r>
              <a:rPr lang="en-US" sz="1200" dirty="0" err="1"/>
              <a:t>terhambat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lingkungan</a:t>
            </a:r>
            <a:r>
              <a:rPr lang="en-US" sz="1200" dirty="0"/>
              <a:t> yang sangat </a:t>
            </a:r>
            <a:r>
              <a:rPr lang="en-US" sz="1200" dirty="0" err="1"/>
              <a:t>terstruktur</a:t>
            </a:r>
            <a:r>
              <a:rPr lang="en-US" sz="1200" dirty="0"/>
              <a:t>. Orang-orang yang </a:t>
            </a:r>
            <a:r>
              <a:rPr lang="en-US" sz="1200" dirty="0" err="1"/>
              <a:t>termasuk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kategori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senang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logika</a:t>
            </a:r>
            <a:r>
              <a:rPr lang="en-US" sz="1200" dirty="0"/>
              <a:t> dan </a:t>
            </a:r>
            <a:r>
              <a:rPr lang="en-US" sz="1200" dirty="0" err="1"/>
              <a:t>memecahkan</a:t>
            </a:r>
            <a:r>
              <a:rPr lang="en-US" sz="1200" dirty="0"/>
              <a:t> </a:t>
            </a:r>
            <a:r>
              <a:rPr lang="en-US" sz="1200" dirty="0" err="1"/>
              <a:t>masalah-masalah</a:t>
            </a:r>
            <a:r>
              <a:rPr lang="en-US" sz="1200" dirty="0"/>
              <a:t> </a:t>
            </a:r>
            <a:r>
              <a:rPr lang="en-US" sz="1200" dirty="0" err="1"/>
              <a:t>abstrak</a:t>
            </a:r>
            <a:r>
              <a:rPr lang="en-US" sz="1200" dirty="0"/>
              <a:t> yang sangat </a:t>
            </a:r>
            <a:r>
              <a:rPr lang="en-US" sz="1200" dirty="0" err="1"/>
              <a:t>kompleks</a:t>
            </a:r>
            <a:r>
              <a:rPr lang="en-US" sz="1200" dirty="0"/>
              <a:t>. Karena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introspektif</a:t>
            </a:r>
            <a:r>
              <a:rPr lang="en-US" sz="1200" dirty="0"/>
              <a:t> dan </a:t>
            </a:r>
            <a:r>
              <a:rPr lang="en-US" sz="1200" dirty="0" err="1"/>
              <a:t>fokus</a:t>
            </a:r>
            <a:r>
              <a:rPr lang="en-US" sz="1200" dirty="0"/>
              <a:t> pada </a:t>
            </a:r>
            <a:r>
              <a:rPr lang="en-US" sz="1200" dirty="0" err="1"/>
              <a:t>pemecahan</a:t>
            </a:r>
            <a:r>
              <a:rPr lang="en-US" sz="1200" dirty="0"/>
              <a:t> </a:t>
            </a:r>
            <a:r>
              <a:rPr lang="en-US" sz="1200" dirty="0" err="1"/>
              <a:t>masalah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kreatif</a:t>
            </a:r>
            <a:r>
              <a:rPr lang="en-US" sz="1200" dirty="0"/>
              <a:t>,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investigatif</a:t>
            </a:r>
            <a:r>
              <a:rPr lang="en-US" sz="1200" dirty="0"/>
              <a:t> </a:t>
            </a:r>
            <a:r>
              <a:rPr lang="en-US" sz="1200" dirty="0" err="1"/>
              <a:t>sering</a:t>
            </a:r>
            <a:r>
              <a:rPr lang="en-US" sz="1200" dirty="0"/>
              <a:t> kali </a:t>
            </a:r>
            <a:r>
              <a:rPr lang="en-US" sz="1200" dirty="0" err="1"/>
              <a:t>bekerja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mandiri</a:t>
            </a:r>
            <a:r>
              <a:rPr lang="en-US" sz="1200" dirty="0"/>
              <a:t> dan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mencari</a:t>
            </a:r>
            <a:r>
              <a:rPr lang="en-US" sz="1200" dirty="0"/>
              <a:t> </a:t>
            </a:r>
            <a:r>
              <a:rPr lang="en-US" sz="1200" dirty="0" err="1"/>
              <a:t>peran</a:t>
            </a:r>
            <a:r>
              <a:rPr lang="en-US" sz="1200" dirty="0"/>
              <a:t> </a:t>
            </a:r>
            <a:r>
              <a:rPr lang="en-US" sz="1200" dirty="0" err="1"/>
              <a:t>kepemimpinan</a:t>
            </a:r>
            <a:r>
              <a:rPr lang="en-US" sz="1200" dirty="0"/>
              <a:t>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menjunjung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 </a:t>
            </a:r>
            <a:r>
              <a:rPr lang="en-US" sz="1200" dirty="0" err="1"/>
              <a:t>sains</a:t>
            </a:r>
            <a:r>
              <a:rPr lang="en-US" sz="1200" dirty="0"/>
              <a:t> dan </a:t>
            </a:r>
            <a:r>
              <a:rPr lang="en-US" sz="1200" dirty="0" err="1"/>
              <a:t>pembelajaran</a:t>
            </a:r>
            <a:r>
              <a:rPr lang="en-US" sz="1200" dirty="0"/>
              <a:t> </a:t>
            </a:r>
            <a:r>
              <a:rPr lang="en-US" sz="1200" dirty="0" err="1"/>
              <a:t>serta</a:t>
            </a:r>
            <a:r>
              <a:rPr lang="en-US" sz="1200" dirty="0"/>
              <a:t> </a:t>
            </a:r>
            <a:r>
              <a:rPr lang="en-US" sz="1200" dirty="0" err="1"/>
              <a:t>menganggap</a:t>
            </a:r>
            <a:r>
              <a:rPr lang="en-US" sz="1200" dirty="0"/>
              <a:t> </a:t>
            </a:r>
            <a:r>
              <a:rPr lang="en-US" sz="1200" dirty="0" err="1"/>
              <a:t>diri</a:t>
            </a:r>
            <a:r>
              <a:rPr lang="en-US" sz="1200" dirty="0"/>
              <a:t>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terpelajar</a:t>
            </a:r>
            <a:r>
              <a:rPr lang="en-US" sz="1200" dirty="0"/>
              <a:t> dan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ilmiah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matematika</a:t>
            </a:r>
            <a:r>
              <a:rPr lang="en-US" sz="1200" dirty="0"/>
              <a:t>, </a:t>
            </a:r>
            <a:r>
              <a:rPr lang="en-US" sz="1200" dirty="0" err="1"/>
              <a:t>namun</a:t>
            </a:r>
            <a:r>
              <a:rPr lang="en-US" sz="1200" dirty="0"/>
              <a:t> </a:t>
            </a:r>
            <a:r>
              <a:rPr lang="en-US" sz="1200" dirty="0" err="1"/>
              <a:t>kurang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keterampilan</a:t>
            </a:r>
            <a:r>
              <a:rPr lang="en-US" sz="1200" dirty="0"/>
              <a:t> </a:t>
            </a:r>
            <a:r>
              <a:rPr lang="en-US" sz="1200" dirty="0" err="1"/>
              <a:t>kepemimpinan</a:t>
            </a:r>
            <a:r>
              <a:rPr lang="en-US" sz="1200" dirty="0"/>
              <a:t> dan </a:t>
            </a:r>
            <a:r>
              <a:rPr lang="en-US" sz="1200" dirty="0" err="1"/>
              <a:t>persuasif</a:t>
            </a:r>
            <a:r>
              <a:rPr lang="en-US" sz="1200" dirty="0"/>
              <a:t>. </a:t>
            </a:r>
            <a:r>
              <a:rPr lang="en-US" sz="1200" dirty="0" err="1"/>
              <a:t>Lingkungan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 yang </a:t>
            </a:r>
            <a:r>
              <a:rPr lang="en-US" sz="1200" dirty="0" err="1"/>
              <a:t>disukai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investigasi</a:t>
            </a:r>
            <a:r>
              <a:rPr lang="en-US" sz="1200" dirty="0"/>
              <a:t> </a:t>
            </a:r>
            <a:r>
              <a:rPr lang="en-US" sz="1200" dirty="0" err="1"/>
              <a:t>mendorong</a:t>
            </a:r>
            <a:r>
              <a:rPr lang="en-US" sz="1200" dirty="0"/>
              <a:t> </a:t>
            </a:r>
            <a:r>
              <a:rPr lang="en-US" sz="1200" dirty="0" err="1"/>
              <a:t>kompetensi</a:t>
            </a:r>
            <a:r>
              <a:rPr lang="en-US" sz="1200" dirty="0"/>
              <a:t> </a:t>
            </a:r>
            <a:r>
              <a:rPr lang="en-US" sz="1200" dirty="0" err="1"/>
              <a:t>ilmiah</a:t>
            </a:r>
            <a:r>
              <a:rPr lang="en-US" sz="1200" dirty="0"/>
              <a:t>, </a:t>
            </a:r>
            <a:r>
              <a:rPr lang="en-US" sz="1200" dirty="0" err="1"/>
              <a:t>memungkinkan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 </a:t>
            </a:r>
            <a:r>
              <a:rPr lang="en-US" sz="1200" dirty="0" err="1"/>
              <a:t>mandiri</a:t>
            </a:r>
            <a:r>
              <a:rPr lang="en-US" sz="1200" dirty="0"/>
              <a:t> dan </a:t>
            </a:r>
            <a:r>
              <a:rPr lang="en-US" sz="1200" dirty="0" err="1"/>
              <a:t>berfokus</a:t>
            </a:r>
            <a:r>
              <a:rPr lang="en-US" sz="1200" dirty="0"/>
              <a:t> pada </a:t>
            </a:r>
            <a:r>
              <a:rPr lang="en-US" sz="1200" dirty="0" err="1"/>
              <a:t>pemecahan</a:t>
            </a:r>
            <a:r>
              <a:rPr lang="en-US" sz="1200" dirty="0"/>
              <a:t> </a:t>
            </a:r>
            <a:r>
              <a:rPr lang="en-US" sz="1200" dirty="0" err="1"/>
              <a:t>masalah</a:t>
            </a:r>
            <a:r>
              <a:rPr lang="en-US" sz="1200" dirty="0"/>
              <a:t> yang </a:t>
            </a:r>
            <a:r>
              <a:rPr lang="en-US" sz="1200" dirty="0" err="1"/>
              <a:t>abstrak</a:t>
            </a:r>
            <a:r>
              <a:rPr lang="en-US" sz="1200" dirty="0"/>
              <a:t> dan </a:t>
            </a:r>
            <a:r>
              <a:rPr lang="en-US" sz="1200" dirty="0" err="1"/>
              <a:t>kompleks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yang </a:t>
            </a:r>
            <a:r>
              <a:rPr lang="en-US" sz="1200" dirty="0" err="1"/>
              <a:t>orisinal</a:t>
            </a:r>
            <a:r>
              <a:rPr lang="en-US" sz="1200" dirty="0"/>
              <a:t>. </a:t>
            </a:r>
            <a:r>
              <a:rPr lang="en-US" sz="1200" dirty="0" err="1"/>
              <a:t>Karier</a:t>
            </a:r>
            <a:r>
              <a:rPr lang="en-US" sz="1200" dirty="0"/>
              <a:t> </a:t>
            </a:r>
            <a:r>
              <a:rPr lang="en-US" sz="1200" dirty="0" err="1"/>
              <a:t>investigasi</a:t>
            </a:r>
            <a:r>
              <a:rPr lang="en-US" sz="1200" dirty="0"/>
              <a:t> yang </a:t>
            </a:r>
            <a:r>
              <a:rPr lang="en-US" sz="1200" dirty="0" err="1"/>
              <a:t>umum</a:t>
            </a:r>
            <a:r>
              <a:rPr lang="en-US" sz="1200" dirty="0"/>
              <a:t> </a:t>
            </a:r>
            <a:r>
              <a:rPr lang="en-US" sz="1200" dirty="0" err="1"/>
              <a:t>meliputi</a:t>
            </a:r>
            <a:r>
              <a:rPr lang="en-US" sz="1200" dirty="0"/>
              <a:t> </a:t>
            </a:r>
            <a:r>
              <a:rPr lang="en-US" sz="1200" dirty="0" err="1"/>
              <a:t>teknolog</a:t>
            </a:r>
            <a:r>
              <a:rPr lang="en-US" sz="1200" dirty="0"/>
              <a:t> </a:t>
            </a:r>
            <a:r>
              <a:rPr lang="en-US" sz="1200" dirty="0" err="1"/>
              <a:t>medis</a:t>
            </a:r>
            <a:r>
              <a:rPr lang="en-US" sz="1200" dirty="0"/>
              <a:t>, </a:t>
            </a:r>
            <a:r>
              <a:rPr lang="en-US" sz="1200" dirty="0" err="1"/>
              <a:t>ahli</a:t>
            </a:r>
            <a:r>
              <a:rPr lang="en-US" sz="1200" dirty="0"/>
              <a:t> </a:t>
            </a:r>
            <a:r>
              <a:rPr lang="en-US" sz="1200" dirty="0" err="1"/>
              <a:t>biologi</a:t>
            </a:r>
            <a:r>
              <a:rPr lang="en-US" sz="1200" dirty="0"/>
              <a:t>, </a:t>
            </a:r>
            <a:r>
              <a:rPr lang="en-US" sz="1200" dirty="0" err="1"/>
              <a:t>ahli</a:t>
            </a:r>
            <a:r>
              <a:rPr lang="en-US" sz="1200" dirty="0"/>
              <a:t> </a:t>
            </a:r>
            <a:r>
              <a:rPr lang="en-US" sz="1200" dirty="0" err="1"/>
              <a:t>kimia</a:t>
            </a:r>
            <a:r>
              <a:rPr lang="en-US" sz="1200" dirty="0"/>
              <a:t>, dan </a:t>
            </a:r>
            <a:r>
              <a:rPr lang="en-US" sz="1200" dirty="0" err="1"/>
              <a:t>analis</a:t>
            </a:r>
            <a:r>
              <a:rPr lang="en-US" sz="1200" dirty="0"/>
              <a:t> </a:t>
            </a:r>
            <a:r>
              <a:rPr lang="en-US" sz="1200" dirty="0" err="1"/>
              <a:t>sistem</a:t>
            </a:r>
            <a:r>
              <a:rPr lang="en-US" sz="1200" dirty="0"/>
              <a:t>.</a:t>
            </a:r>
          </a:p>
          <a:p>
            <a:pPr marL="0" indent="0" algn="just">
              <a:buNone/>
            </a:pPr>
            <a:r>
              <a:rPr lang="en-US" sz="1200" b="1" i="1" dirty="0" err="1"/>
              <a:t>Tipe</a:t>
            </a:r>
            <a:r>
              <a:rPr lang="en-US" sz="1200" b="1" i="1" dirty="0"/>
              <a:t> 3 </a:t>
            </a:r>
            <a:r>
              <a:rPr lang="en-US" sz="1200" b="1" i="1" dirty="0" err="1"/>
              <a:t>Artistik</a:t>
            </a:r>
            <a:r>
              <a:rPr lang="en-US" sz="1200" b="1" i="1" dirty="0"/>
              <a:t> (A)</a:t>
            </a:r>
          </a:p>
          <a:p>
            <a:pPr marL="0" indent="0" algn="just">
              <a:buNone/>
            </a:pPr>
            <a:r>
              <a:rPr lang="en-US" sz="1200" dirty="0" err="1"/>
              <a:t>Individu</a:t>
            </a:r>
            <a:r>
              <a:rPr lang="en-US" sz="1200" dirty="0"/>
              <a:t> </a:t>
            </a:r>
            <a:r>
              <a:rPr lang="en-US" sz="1200" dirty="0" err="1"/>
              <a:t>artistik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individu</a:t>
            </a:r>
            <a:r>
              <a:rPr lang="en-US" sz="1200" dirty="0"/>
              <a:t> yang </a:t>
            </a:r>
            <a:r>
              <a:rPr lang="en-US" sz="1200" dirty="0" err="1"/>
              <a:t>orisinal</a:t>
            </a:r>
            <a:r>
              <a:rPr lang="en-US" sz="1200" dirty="0"/>
              <a:t>, </a:t>
            </a:r>
            <a:r>
              <a:rPr lang="en-US" sz="1200" dirty="0" err="1"/>
              <a:t>intuitif</a:t>
            </a:r>
            <a:r>
              <a:rPr lang="en-US" sz="1200" dirty="0"/>
              <a:t>, dan </a:t>
            </a:r>
            <a:r>
              <a:rPr lang="en-US" sz="1200" dirty="0" err="1"/>
              <a:t>imajinatif</a:t>
            </a:r>
            <a:r>
              <a:rPr lang="en-US" sz="1200" dirty="0"/>
              <a:t> </a:t>
            </a:r>
            <a:r>
              <a:rPr lang="en-US" sz="1200" dirty="0" err="1"/>
              <a:t>serta</a:t>
            </a:r>
            <a:r>
              <a:rPr lang="en-US" sz="1200" dirty="0"/>
              <a:t> </a:t>
            </a:r>
            <a:r>
              <a:rPr lang="en-US" sz="1200" dirty="0" err="1"/>
              <a:t>menikmati</a:t>
            </a:r>
            <a:r>
              <a:rPr lang="en-US" sz="1200" dirty="0"/>
              <a:t> </a:t>
            </a:r>
            <a:r>
              <a:rPr lang="en-US" sz="1200" dirty="0" err="1"/>
              <a:t>aktivitas</a:t>
            </a:r>
            <a:r>
              <a:rPr lang="en-US" sz="1200" dirty="0"/>
              <a:t> </a:t>
            </a:r>
            <a:r>
              <a:rPr lang="en-US" sz="1200" dirty="0" err="1"/>
              <a:t>kreatif</a:t>
            </a:r>
            <a:r>
              <a:rPr lang="en-US" sz="1200" dirty="0"/>
              <a:t>,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mengarang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memainkan</a:t>
            </a:r>
            <a:r>
              <a:rPr lang="en-US" sz="1200" dirty="0"/>
              <a:t> </a:t>
            </a:r>
            <a:r>
              <a:rPr lang="en-US" sz="1200" dirty="0" err="1"/>
              <a:t>musik</a:t>
            </a:r>
            <a:r>
              <a:rPr lang="en-US" sz="1200" dirty="0"/>
              <a:t>, </a:t>
            </a:r>
            <a:r>
              <a:rPr lang="en-US" sz="1200" dirty="0" err="1"/>
              <a:t>menulis</a:t>
            </a:r>
            <a:r>
              <a:rPr lang="en-US" sz="1200" dirty="0"/>
              <a:t>, </a:t>
            </a:r>
            <a:r>
              <a:rPr lang="en-US" sz="1200" dirty="0" err="1"/>
              <a:t>menggambar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melukis</a:t>
            </a:r>
            <a:r>
              <a:rPr lang="en-US" sz="1200" dirty="0"/>
              <a:t>, dan </a:t>
            </a:r>
            <a:r>
              <a:rPr lang="en-US" sz="1200" dirty="0" err="1"/>
              <a:t>bertindak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mengarahkan</a:t>
            </a:r>
            <a:r>
              <a:rPr lang="en-US" sz="1200" dirty="0"/>
              <a:t> </a:t>
            </a:r>
            <a:r>
              <a:rPr lang="en-US" sz="1200" dirty="0" err="1"/>
              <a:t>produksi</a:t>
            </a:r>
            <a:r>
              <a:rPr lang="en-US" sz="1200" dirty="0"/>
              <a:t> </a:t>
            </a:r>
            <a:r>
              <a:rPr lang="en-US" sz="1200" dirty="0" err="1"/>
              <a:t>panggung</a:t>
            </a:r>
            <a:r>
              <a:rPr lang="en-US" sz="1200" dirty="0"/>
              <a:t>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mencari</a:t>
            </a:r>
            <a:r>
              <a:rPr lang="en-US" sz="1200" dirty="0"/>
              <a:t> </a:t>
            </a:r>
            <a:r>
              <a:rPr lang="en-US" sz="1200" dirty="0" err="1"/>
              <a:t>peluang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ekspresi</a:t>
            </a:r>
            <a:r>
              <a:rPr lang="en-US" sz="1200" dirty="0"/>
              <a:t> </a:t>
            </a:r>
            <a:r>
              <a:rPr lang="en-US" sz="1200" dirty="0" err="1"/>
              <a:t>diri</a:t>
            </a:r>
            <a:r>
              <a:rPr lang="en-US" sz="1200" dirty="0"/>
              <a:t> </a:t>
            </a:r>
            <a:r>
              <a:rPr lang="en-US" sz="1200" dirty="0" err="1"/>
              <a:t>melalui</a:t>
            </a:r>
            <a:r>
              <a:rPr lang="en-US" sz="1200" dirty="0"/>
              <a:t> </a:t>
            </a:r>
            <a:r>
              <a:rPr lang="en-US" sz="1200" dirty="0" err="1"/>
              <a:t>kreasi</a:t>
            </a:r>
            <a:r>
              <a:rPr lang="en-US" sz="1200" dirty="0"/>
              <a:t> </a:t>
            </a:r>
            <a:r>
              <a:rPr lang="en-US" sz="1200" dirty="0" err="1"/>
              <a:t>seni</a:t>
            </a:r>
            <a:r>
              <a:rPr lang="en-US" sz="1200" dirty="0"/>
              <a:t>. Orang-orang yang </a:t>
            </a:r>
            <a:r>
              <a:rPr lang="en-US" sz="1200" dirty="0" err="1"/>
              <a:t>termasuk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kategori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menyukai</a:t>
            </a:r>
            <a:r>
              <a:rPr lang="en-US" sz="1200" dirty="0"/>
              <a:t> </a:t>
            </a:r>
            <a:r>
              <a:rPr lang="en-US" sz="1200" dirty="0" err="1"/>
              <a:t>fleksibilitas</a:t>
            </a:r>
            <a:r>
              <a:rPr lang="en-US" sz="1200" dirty="0"/>
              <a:t> dan </a:t>
            </a:r>
            <a:r>
              <a:rPr lang="en-US" sz="1200" dirty="0" err="1"/>
              <a:t>ambiguitas</a:t>
            </a:r>
            <a:r>
              <a:rPr lang="en-US" sz="1200" dirty="0"/>
              <a:t> </a:t>
            </a:r>
            <a:r>
              <a:rPr lang="en-US" sz="1200" dirty="0" err="1"/>
              <a:t>serta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menyukai</a:t>
            </a:r>
            <a:r>
              <a:rPr lang="en-US" sz="1200" dirty="0"/>
              <a:t> </a:t>
            </a:r>
            <a:r>
              <a:rPr lang="en-US" sz="1200" dirty="0" err="1"/>
              <a:t>konvensi</a:t>
            </a:r>
            <a:r>
              <a:rPr lang="en-US" sz="1200" dirty="0"/>
              <a:t> dan </a:t>
            </a:r>
            <a:r>
              <a:rPr lang="en-US" sz="1200" dirty="0" err="1"/>
              <a:t>konformitas</a:t>
            </a:r>
            <a:r>
              <a:rPr lang="en-US" sz="1200" dirty="0"/>
              <a:t>.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artistik</a:t>
            </a:r>
            <a:r>
              <a:rPr lang="en-US" sz="1200" dirty="0"/>
              <a:t> </a:t>
            </a:r>
            <a:r>
              <a:rPr lang="en-US" sz="1200" dirty="0" err="1"/>
              <a:t>umumnya</a:t>
            </a:r>
            <a:r>
              <a:rPr lang="en-US" sz="1200" dirty="0"/>
              <a:t> </a:t>
            </a:r>
            <a:r>
              <a:rPr lang="en-US" sz="1200" dirty="0" err="1"/>
              <a:t>impulsif</a:t>
            </a:r>
            <a:r>
              <a:rPr lang="en-US" sz="1200" dirty="0"/>
              <a:t> dan </a:t>
            </a:r>
            <a:r>
              <a:rPr lang="en-US" sz="1200" dirty="0" err="1"/>
              <a:t>emosional</a:t>
            </a:r>
            <a:r>
              <a:rPr lang="en-US" sz="1200" dirty="0"/>
              <a:t> </a:t>
            </a:r>
            <a:r>
              <a:rPr lang="en-US" sz="1200" dirty="0" err="1"/>
              <a:t>serta</a:t>
            </a:r>
            <a:r>
              <a:rPr lang="en-US" sz="1200" dirty="0"/>
              <a:t> </a:t>
            </a:r>
            <a:r>
              <a:rPr lang="en-US" sz="1200" dirty="0" err="1"/>
              <a:t>cenderung</a:t>
            </a:r>
            <a:r>
              <a:rPr lang="en-US" sz="1200" dirty="0"/>
              <a:t> </a:t>
            </a:r>
            <a:r>
              <a:rPr lang="en-US" sz="1200" dirty="0" err="1"/>
              <a:t>berkomunikasi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yang sangat </a:t>
            </a:r>
            <a:r>
              <a:rPr lang="en-US" sz="1200" dirty="0" err="1"/>
              <a:t>ekspresif</a:t>
            </a:r>
            <a:r>
              <a:rPr lang="en-US" sz="1200" dirty="0"/>
              <a:t> dan </a:t>
            </a:r>
            <a:r>
              <a:rPr lang="en-US" sz="1200" dirty="0" err="1"/>
              <a:t>terbuka</a:t>
            </a:r>
            <a:r>
              <a:rPr lang="en-US" sz="1200" dirty="0"/>
              <a:t>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menghargai</a:t>
            </a:r>
            <a:r>
              <a:rPr lang="en-US" sz="1200" dirty="0"/>
              <a:t> </a:t>
            </a:r>
            <a:r>
              <a:rPr lang="en-US" sz="1200" dirty="0" err="1"/>
              <a:t>estetika</a:t>
            </a:r>
            <a:r>
              <a:rPr lang="en-US" sz="1200" dirty="0"/>
              <a:t> dan </a:t>
            </a:r>
            <a:r>
              <a:rPr lang="en-US" sz="1200" dirty="0" err="1"/>
              <a:t>memandang</a:t>
            </a:r>
            <a:r>
              <a:rPr lang="en-US" sz="1200" dirty="0"/>
              <a:t> </a:t>
            </a:r>
            <a:r>
              <a:rPr lang="en-US" sz="1200" dirty="0" err="1"/>
              <a:t>diri</a:t>
            </a:r>
            <a:r>
              <a:rPr lang="en-US" sz="1200" dirty="0"/>
              <a:t>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orang yang </a:t>
            </a:r>
            <a:r>
              <a:rPr lang="en-US" sz="1200" dirty="0" err="1"/>
              <a:t>kreatif</a:t>
            </a:r>
            <a:r>
              <a:rPr lang="en-US" sz="1200" dirty="0"/>
              <a:t>,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patuh</a:t>
            </a:r>
            <a:r>
              <a:rPr lang="en-US" sz="1200" dirty="0"/>
              <a:t> dan </a:t>
            </a:r>
            <a:r>
              <a:rPr lang="en-US" sz="1200" dirty="0" err="1"/>
              <a:t>menghargai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musik</a:t>
            </a:r>
            <a:r>
              <a:rPr lang="en-US" sz="1200" dirty="0"/>
              <a:t>, drama, </a:t>
            </a:r>
            <a:r>
              <a:rPr lang="en-US" sz="1200" dirty="0" err="1"/>
              <a:t>seni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menulis</a:t>
            </a:r>
            <a:r>
              <a:rPr lang="en-US" sz="1200" dirty="0"/>
              <a:t>, </a:t>
            </a:r>
            <a:r>
              <a:rPr lang="en-US" sz="1200" dirty="0" err="1"/>
              <a:t>namun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keterampilan</a:t>
            </a:r>
            <a:r>
              <a:rPr lang="en-US" sz="1200" dirty="0"/>
              <a:t> </a:t>
            </a:r>
            <a:r>
              <a:rPr lang="en-US" sz="1200" dirty="0" err="1"/>
              <a:t>administrasi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organisasi</a:t>
            </a:r>
            <a:r>
              <a:rPr lang="en-US" sz="1200" dirty="0"/>
              <a:t>. </a:t>
            </a:r>
            <a:r>
              <a:rPr lang="en-US" sz="1200" dirty="0" err="1"/>
              <a:t>Lingkungan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 yang </a:t>
            </a:r>
            <a:r>
              <a:rPr lang="en-US" sz="1200" dirty="0" err="1"/>
              <a:t>disukai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artistik</a:t>
            </a:r>
            <a:r>
              <a:rPr lang="en-US" sz="1200" dirty="0"/>
              <a:t> </a:t>
            </a:r>
            <a:r>
              <a:rPr lang="en-US" sz="1200" dirty="0" err="1"/>
              <a:t>menumbuhkan</a:t>
            </a:r>
            <a:r>
              <a:rPr lang="en-US" sz="1200" dirty="0"/>
              <a:t> </a:t>
            </a:r>
            <a:r>
              <a:rPr lang="en-US" sz="1200" dirty="0" err="1"/>
              <a:t>kompetensi</a:t>
            </a:r>
            <a:r>
              <a:rPr lang="en-US" sz="1200" dirty="0"/>
              <a:t> </a:t>
            </a:r>
            <a:r>
              <a:rPr lang="en-US" sz="1200" dirty="0" err="1"/>
              <a:t>kreatif</a:t>
            </a:r>
            <a:r>
              <a:rPr lang="en-US" sz="1200" dirty="0"/>
              <a:t>, dan </a:t>
            </a:r>
            <a:r>
              <a:rPr lang="en-US" sz="1200" dirty="0" err="1"/>
              <a:t>mendorong</a:t>
            </a:r>
            <a:r>
              <a:rPr lang="en-US" sz="1200" dirty="0"/>
              <a:t> </a:t>
            </a:r>
            <a:r>
              <a:rPr lang="en-US" sz="1200" dirty="0" err="1"/>
              <a:t>orisinalitas</a:t>
            </a:r>
            <a:r>
              <a:rPr lang="en-US" sz="1200" dirty="0"/>
              <a:t> dan </a:t>
            </a:r>
            <a:r>
              <a:rPr lang="en-US" sz="1200" dirty="0" err="1"/>
              <a:t>penggunaan</a:t>
            </a:r>
            <a:r>
              <a:rPr lang="en-US" sz="1200" dirty="0"/>
              <a:t> </a:t>
            </a:r>
            <a:r>
              <a:rPr lang="en-US" sz="1200" dirty="0" err="1"/>
              <a:t>imajinasi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lingkungan</a:t>
            </a:r>
            <a:r>
              <a:rPr lang="en-US" sz="1200" dirty="0"/>
              <a:t> yang </a:t>
            </a:r>
            <a:r>
              <a:rPr lang="en-US" sz="1200" dirty="0" err="1"/>
              <a:t>fleksibel</a:t>
            </a:r>
            <a:r>
              <a:rPr lang="en-US" sz="1200" dirty="0"/>
              <a:t> dan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terstruktur</a:t>
            </a:r>
            <a:r>
              <a:rPr lang="en-US" sz="1200" dirty="0"/>
              <a:t>. </a:t>
            </a:r>
            <a:r>
              <a:rPr lang="en-US" sz="1200" dirty="0" err="1"/>
              <a:t>Karir</a:t>
            </a:r>
            <a:r>
              <a:rPr lang="en-US" sz="1200" dirty="0"/>
              <a:t> </a:t>
            </a:r>
            <a:r>
              <a:rPr lang="en-US" sz="1200" dirty="0" err="1"/>
              <a:t>artistik</a:t>
            </a:r>
            <a:r>
              <a:rPr lang="en-US" sz="1200" dirty="0"/>
              <a:t> yang </a:t>
            </a:r>
            <a:r>
              <a:rPr lang="en-US" sz="1200" dirty="0" err="1"/>
              <a:t>khas</a:t>
            </a:r>
            <a:r>
              <a:rPr lang="en-US" sz="1200" dirty="0"/>
              <a:t> </a:t>
            </a:r>
            <a:r>
              <a:rPr lang="en-US" sz="1200" dirty="0" err="1"/>
              <a:t>termasuk</a:t>
            </a:r>
            <a:r>
              <a:rPr lang="en-US" sz="1200" dirty="0"/>
              <a:t> </a:t>
            </a:r>
            <a:r>
              <a:rPr lang="en-US" sz="1200" dirty="0" err="1"/>
              <a:t>musisi</a:t>
            </a:r>
            <a:r>
              <a:rPr lang="en-US" sz="1200" dirty="0"/>
              <a:t>, reporter, dan </a:t>
            </a:r>
            <a:r>
              <a:rPr lang="en-US" sz="1200" dirty="0" err="1"/>
              <a:t>dekorator</a:t>
            </a:r>
            <a:r>
              <a:rPr lang="en-US" sz="1200" dirty="0"/>
              <a:t> interior.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1149B9-0850-D05E-6885-5D0D24A7A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949"/>
            <a:ext cx="10515600" cy="1018507"/>
          </a:xfrm>
        </p:spPr>
        <p:txBody>
          <a:bodyPr>
            <a:normAutofit/>
          </a:bodyPr>
          <a:lstStyle/>
          <a:p>
            <a:r>
              <a:rPr lang="en-US" sz="3200" b="1" dirty="0"/>
              <a:t>Profiling </a:t>
            </a:r>
            <a:r>
              <a:rPr lang="en-US" sz="3200" b="1" dirty="0" err="1"/>
              <a:t>Potensi</a:t>
            </a:r>
            <a:r>
              <a:rPr lang="en-US" sz="3200" b="1" dirty="0"/>
              <a:t> </a:t>
            </a:r>
            <a:r>
              <a:rPr lang="en-US" sz="3200" b="1" dirty="0" err="1"/>
              <a:t>Minat</a:t>
            </a:r>
            <a:r>
              <a:rPr lang="en-US" sz="3200" b="1" dirty="0"/>
              <a:t>, </a:t>
            </a:r>
            <a:r>
              <a:rPr lang="en-US" sz="3200" b="1" dirty="0" err="1"/>
              <a:t>Bakat</a:t>
            </a:r>
            <a:r>
              <a:rPr lang="en-US" sz="3200" b="1" dirty="0"/>
              <a:t> dan </a:t>
            </a:r>
            <a:r>
              <a:rPr lang="en-US" sz="3200" b="1" dirty="0" err="1"/>
              <a:t>Pilihan</a:t>
            </a:r>
            <a:r>
              <a:rPr lang="en-US" sz="3200" b="1" dirty="0"/>
              <a:t> </a:t>
            </a:r>
            <a:r>
              <a:rPr lang="en-US" sz="3200" b="1" dirty="0" err="1"/>
              <a:t>Pekerjaan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97581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5B7739C-7CE9-ED2E-6241-6C8A2A8B2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2568" y="1224047"/>
            <a:ext cx="9360569" cy="52850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200" b="1" i="1" dirty="0" err="1"/>
              <a:t>Tipe</a:t>
            </a:r>
            <a:r>
              <a:rPr lang="en-US" sz="1200" b="1" i="1" dirty="0"/>
              <a:t> 4 -</a:t>
            </a:r>
            <a:r>
              <a:rPr lang="en-US" sz="1200" b="1" i="1" dirty="0" err="1"/>
              <a:t>Sosial</a:t>
            </a:r>
            <a:r>
              <a:rPr lang="en-US" sz="1200" b="1" i="1" dirty="0"/>
              <a:t> (S)</a:t>
            </a:r>
          </a:p>
          <a:p>
            <a:pPr marL="0" indent="0" algn="just">
              <a:buNone/>
            </a:pPr>
            <a:r>
              <a:rPr lang="en-US" sz="1200" dirty="0" err="1"/>
              <a:t>Individu</a:t>
            </a:r>
            <a:r>
              <a:rPr lang="en-US" sz="1200" dirty="0"/>
              <a:t> </a:t>
            </a:r>
            <a:r>
              <a:rPr lang="en-US" sz="1200" dirty="0" err="1"/>
              <a:t>sosial</a:t>
            </a:r>
            <a:r>
              <a:rPr lang="en-US" sz="1200" dirty="0"/>
              <a:t> </a:t>
            </a:r>
            <a:r>
              <a:rPr lang="en-US" sz="1200" dirty="0" err="1"/>
              <a:t>bersifat</a:t>
            </a:r>
            <a:r>
              <a:rPr lang="en-US" sz="1200" dirty="0"/>
              <a:t> </a:t>
            </a:r>
            <a:r>
              <a:rPr lang="en-US" sz="1200" dirty="0" err="1"/>
              <a:t>humanis</a:t>
            </a:r>
            <a:r>
              <a:rPr lang="en-US" sz="1200" dirty="0"/>
              <a:t>, </a:t>
            </a:r>
            <a:r>
              <a:rPr lang="en-US" sz="1200" dirty="0" err="1"/>
              <a:t>idealis</a:t>
            </a:r>
            <a:r>
              <a:rPr lang="en-US" sz="1200" dirty="0"/>
              <a:t>, </a:t>
            </a:r>
            <a:r>
              <a:rPr lang="en-US" sz="1200" dirty="0" err="1"/>
              <a:t>bertanggung</a:t>
            </a:r>
            <a:r>
              <a:rPr lang="en-US" sz="1200" dirty="0"/>
              <a:t> </a:t>
            </a:r>
            <a:r>
              <a:rPr lang="en-US" sz="1200" dirty="0" err="1"/>
              <a:t>jawab</a:t>
            </a:r>
            <a:r>
              <a:rPr lang="en-US" sz="1200" dirty="0"/>
              <a:t> dan </a:t>
            </a:r>
            <a:r>
              <a:rPr lang="en-US" sz="1200" dirty="0" err="1"/>
              <a:t>peduli</a:t>
            </a:r>
            <a:r>
              <a:rPr lang="en-US" sz="1200" dirty="0"/>
              <a:t> </a:t>
            </a:r>
            <a:r>
              <a:rPr lang="en-US" sz="1200" dirty="0" err="1"/>
              <a:t>terhadap</a:t>
            </a:r>
            <a:r>
              <a:rPr lang="en-US" sz="1200" dirty="0"/>
              <a:t> </a:t>
            </a:r>
            <a:r>
              <a:rPr lang="en-US" sz="1200" dirty="0" err="1"/>
              <a:t>kesejahteraan</a:t>
            </a:r>
            <a:r>
              <a:rPr lang="en-US" sz="1200" dirty="0"/>
              <a:t> orang lain.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senang</a:t>
            </a:r>
            <a:r>
              <a:rPr lang="en-US" sz="1200" dirty="0"/>
              <a:t> </a:t>
            </a:r>
            <a:r>
              <a:rPr lang="en-US" sz="1200" dirty="0" err="1"/>
              <a:t>berpartisipasi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kegiatan</a:t>
            </a:r>
            <a:r>
              <a:rPr lang="en-US" sz="1200" dirty="0"/>
              <a:t> </a:t>
            </a:r>
            <a:r>
              <a:rPr lang="en-US" sz="1200" dirty="0" err="1"/>
              <a:t>kelompok</a:t>
            </a:r>
            <a:r>
              <a:rPr lang="en-US" sz="1200" dirty="0"/>
              <a:t> dan </a:t>
            </a:r>
            <a:r>
              <a:rPr lang="en-US" sz="1200" dirty="0" err="1"/>
              <a:t>membantu</a:t>
            </a:r>
            <a:r>
              <a:rPr lang="en-US" sz="1200" dirty="0"/>
              <a:t>, </a:t>
            </a:r>
            <a:r>
              <a:rPr lang="en-US" sz="1200" dirty="0" err="1"/>
              <a:t>melatih</a:t>
            </a:r>
            <a:r>
              <a:rPr lang="en-US" sz="1200" dirty="0"/>
              <a:t>, </a:t>
            </a:r>
            <a:r>
              <a:rPr lang="en-US" sz="1200" dirty="0" err="1"/>
              <a:t>menyembuhkan</a:t>
            </a:r>
            <a:r>
              <a:rPr lang="en-US" sz="1200" dirty="0"/>
              <a:t>, </a:t>
            </a:r>
            <a:r>
              <a:rPr lang="en-US" sz="1200" dirty="0" err="1"/>
              <a:t>menasihati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mengembangkan</a:t>
            </a:r>
            <a:r>
              <a:rPr lang="en-US" sz="1200" dirty="0"/>
              <a:t> orang lain.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umumnya</a:t>
            </a:r>
            <a:r>
              <a:rPr lang="en-US" sz="1200" dirty="0"/>
              <a:t> </a:t>
            </a:r>
            <a:r>
              <a:rPr lang="en-US" sz="1200" dirty="0" err="1"/>
              <a:t>fokus</a:t>
            </a:r>
            <a:r>
              <a:rPr lang="en-US" sz="1200" dirty="0"/>
              <a:t> pada </a:t>
            </a:r>
            <a:r>
              <a:rPr lang="en-US" sz="1200" dirty="0" err="1"/>
              <a:t>hubungan</a:t>
            </a:r>
            <a:r>
              <a:rPr lang="en-US" sz="1200" dirty="0"/>
              <a:t> </a:t>
            </a:r>
            <a:r>
              <a:rPr lang="en-US" sz="1200" dirty="0" err="1"/>
              <a:t>antarmanusia</a:t>
            </a:r>
            <a:r>
              <a:rPr lang="en-US" sz="1200" dirty="0"/>
              <a:t> dan </a:t>
            </a:r>
            <a:r>
              <a:rPr lang="en-US" sz="1200" dirty="0" err="1"/>
              <a:t>menikmati</a:t>
            </a:r>
            <a:r>
              <a:rPr lang="en-US" sz="1200" dirty="0"/>
              <a:t> </a:t>
            </a:r>
            <a:r>
              <a:rPr lang="en-US" sz="1200" dirty="0" err="1"/>
              <a:t>aktivitas</a:t>
            </a:r>
            <a:r>
              <a:rPr lang="en-US" sz="1200" dirty="0"/>
              <a:t> </a:t>
            </a:r>
            <a:r>
              <a:rPr lang="en-US" sz="1200" dirty="0" err="1"/>
              <a:t>sosial</a:t>
            </a:r>
            <a:r>
              <a:rPr lang="en-US" sz="1200" dirty="0"/>
              <a:t> </a:t>
            </a:r>
            <a:r>
              <a:rPr lang="en-US" sz="1200" dirty="0" err="1"/>
              <a:t>serta</a:t>
            </a:r>
            <a:r>
              <a:rPr lang="en-US" sz="1200" dirty="0"/>
              <a:t> </a:t>
            </a:r>
            <a:r>
              <a:rPr lang="en-US" sz="1200" dirty="0" err="1"/>
              <a:t>memecahkan</a:t>
            </a:r>
            <a:r>
              <a:rPr lang="en-US" sz="1200" dirty="0"/>
              <a:t> </a:t>
            </a:r>
            <a:r>
              <a:rPr lang="en-US" sz="1200" dirty="0" err="1"/>
              <a:t>masalah</a:t>
            </a:r>
            <a:r>
              <a:rPr lang="en-US" sz="1200" dirty="0"/>
              <a:t> interpersonal.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sosial</a:t>
            </a:r>
            <a:r>
              <a:rPr lang="en-US" sz="1200" dirty="0"/>
              <a:t> </a:t>
            </a:r>
            <a:r>
              <a:rPr lang="en-US" sz="1200" dirty="0" err="1"/>
              <a:t>mencari</a:t>
            </a:r>
            <a:r>
              <a:rPr lang="en-US" sz="1200" dirty="0"/>
              <a:t> </a:t>
            </a:r>
            <a:r>
              <a:rPr lang="en-US" sz="1200" dirty="0" err="1"/>
              <a:t>peluang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bekerja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bagian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tim</a:t>
            </a:r>
            <a:r>
              <a:rPr lang="en-US" sz="1200" dirty="0"/>
              <a:t>, </a:t>
            </a:r>
            <a:r>
              <a:rPr lang="en-US" sz="1200" dirty="0" err="1"/>
              <a:t>memecahkan</a:t>
            </a:r>
            <a:r>
              <a:rPr lang="en-US" sz="1200" dirty="0"/>
              <a:t> </a:t>
            </a:r>
            <a:r>
              <a:rPr lang="en-US" sz="1200" dirty="0" err="1"/>
              <a:t>masalah</a:t>
            </a:r>
            <a:r>
              <a:rPr lang="en-US" sz="1200" dirty="0"/>
              <a:t> </a:t>
            </a:r>
            <a:r>
              <a:rPr lang="en-US" sz="1200" dirty="0" err="1"/>
              <a:t>melalui</a:t>
            </a:r>
            <a:r>
              <a:rPr lang="en-US" sz="1200" dirty="0"/>
              <a:t> </a:t>
            </a:r>
            <a:r>
              <a:rPr lang="en-US" sz="1200" dirty="0" err="1"/>
              <a:t>diskusi</a:t>
            </a:r>
            <a:r>
              <a:rPr lang="en-US" sz="1200" dirty="0"/>
              <a:t> dan </a:t>
            </a:r>
            <a:r>
              <a:rPr lang="en-US" sz="1200" dirty="0" err="1"/>
              <a:t>memanfaatkan</a:t>
            </a:r>
            <a:r>
              <a:rPr lang="en-US" sz="1200" dirty="0"/>
              <a:t> </a:t>
            </a:r>
            <a:r>
              <a:rPr lang="en-US" sz="1200" dirty="0" err="1"/>
              <a:t>keterampilan</a:t>
            </a:r>
            <a:r>
              <a:rPr lang="en-US" sz="1200" dirty="0"/>
              <a:t> </a:t>
            </a:r>
            <a:r>
              <a:rPr lang="en-US" sz="1200" dirty="0" err="1"/>
              <a:t>antarpribadi</a:t>
            </a:r>
            <a:r>
              <a:rPr lang="en-US" sz="1200" dirty="0"/>
              <a:t> </a:t>
            </a:r>
            <a:r>
              <a:rPr lang="en-US" sz="1200" dirty="0" err="1"/>
              <a:t>tetapi</a:t>
            </a:r>
            <a:r>
              <a:rPr lang="en-US" sz="1200" dirty="0"/>
              <a:t> </a:t>
            </a:r>
            <a:r>
              <a:rPr lang="en-US" sz="1200" dirty="0" err="1"/>
              <a:t>mungkin</a:t>
            </a:r>
            <a:r>
              <a:rPr lang="en-US" sz="1200" dirty="0"/>
              <a:t> </a:t>
            </a:r>
            <a:r>
              <a:rPr lang="en-US" sz="1200" dirty="0" err="1"/>
              <a:t>menghindari</a:t>
            </a:r>
            <a:r>
              <a:rPr lang="en-US" sz="1200" dirty="0"/>
              <a:t> </a:t>
            </a:r>
            <a:r>
              <a:rPr lang="en-US" sz="1200" dirty="0" err="1"/>
              <a:t>aktivitas</a:t>
            </a:r>
            <a:r>
              <a:rPr lang="en-US" sz="1200" dirty="0"/>
              <a:t> yang </a:t>
            </a:r>
            <a:r>
              <a:rPr lang="en-US" sz="1200" dirty="0" err="1"/>
              <a:t>melibatkan</a:t>
            </a:r>
            <a:r>
              <a:rPr lang="en-US" sz="1200" dirty="0"/>
              <a:t> </a:t>
            </a:r>
            <a:r>
              <a:rPr lang="en-US" sz="1200" dirty="0" err="1"/>
              <a:t>penggunaan</a:t>
            </a:r>
            <a:r>
              <a:rPr lang="en-US" sz="1200" dirty="0"/>
              <a:t> </a:t>
            </a:r>
            <a:r>
              <a:rPr lang="en-US" sz="1200" dirty="0" err="1"/>
              <a:t>peralatan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mesin</a:t>
            </a:r>
            <a:r>
              <a:rPr lang="en-US" sz="1200" dirty="0"/>
              <a:t> </a:t>
            </a:r>
            <a:r>
              <a:rPr lang="en-US" sz="1200" dirty="0" err="1"/>
              <a:t>secara</a:t>
            </a:r>
            <a:r>
              <a:rPr lang="en-US" sz="1200" dirty="0"/>
              <a:t> </a:t>
            </a:r>
            <a:r>
              <a:rPr lang="en-US" sz="1200" dirty="0" err="1"/>
              <a:t>sistematis</a:t>
            </a:r>
            <a:r>
              <a:rPr lang="en-US" sz="1200" dirty="0"/>
              <a:t>. Karena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benar-benar</a:t>
            </a:r>
            <a:r>
              <a:rPr lang="en-US" sz="1200" dirty="0"/>
              <a:t> </a:t>
            </a:r>
            <a:r>
              <a:rPr lang="en-US" sz="1200" dirty="0" err="1"/>
              <a:t>menikmati</a:t>
            </a:r>
            <a:r>
              <a:rPr lang="en-US" sz="1200" dirty="0"/>
              <a:t> </a:t>
            </a:r>
            <a:r>
              <a:rPr lang="en-US" sz="1200" dirty="0" err="1"/>
              <a:t>bekerja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orang lain,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berkomunikasi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yang </a:t>
            </a:r>
            <a:r>
              <a:rPr lang="en-US" sz="1200" dirty="0" err="1"/>
              <a:t>hangat</a:t>
            </a:r>
            <a:r>
              <a:rPr lang="en-US" sz="1200" dirty="0"/>
              <a:t> dan </a:t>
            </a:r>
            <a:r>
              <a:rPr lang="en-US" sz="1200" dirty="0" err="1"/>
              <a:t>bijaksana</a:t>
            </a:r>
            <a:r>
              <a:rPr lang="en-US" sz="1200" dirty="0"/>
              <a:t> </a:t>
            </a:r>
            <a:r>
              <a:rPr lang="en-US" sz="1200" dirty="0" err="1"/>
              <a:t>serta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persuasif</a:t>
            </a:r>
            <a:r>
              <a:rPr lang="en-US" sz="1200" dirty="0"/>
              <a:t>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memandang</a:t>
            </a:r>
            <a:r>
              <a:rPr lang="en-US" sz="1200" dirty="0"/>
              <a:t> </a:t>
            </a:r>
            <a:r>
              <a:rPr lang="en-US" sz="1200" dirty="0" err="1"/>
              <a:t>diri</a:t>
            </a:r>
            <a:r>
              <a:rPr lang="en-US" sz="1200" dirty="0"/>
              <a:t>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orang yang </a:t>
            </a:r>
            <a:r>
              <a:rPr lang="en-US" sz="1200" dirty="0" err="1"/>
              <a:t>pengertian</a:t>
            </a:r>
            <a:r>
              <a:rPr lang="en-US" sz="1200" dirty="0"/>
              <a:t>, </a:t>
            </a:r>
            <a:r>
              <a:rPr lang="en-US" sz="1200" dirty="0" err="1"/>
              <a:t>suka</a:t>
            </a:r>
            <a:r>
              <a:rPr lang="en-US" sz="1200" dirty="0"/>
              <a:t> </a:t>
            </a:r>
            <a:r>
              <a:rPr lang="en-US" sz="1200" dirty="0" err="1"/>
              <a:t>menolong</a:t>
            </a:r>
            <a:r>
              <a:rPr lang="en-US" sz="1200" dirty="0"/>
              <a:t>, ceria dan </a:t>
            </a:r>
            <a:r>
              <a:rPr lang="en-US" sz="1200" dirty="0" err="1"/>
              <a:t>terampil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mengajar</a:t>
            </a:r>
            <a:r>
              <a:rPr lang="en-US" sz="1200" dirty="0"/>
              <a:t> </a:t>
            </a:r>
            <a:r>
              <a:rPr lang="en-US" sz="1200" dirty="0" err="1"/>
              <a:t>tetapi</a:t>
            </a:r>
            <a:r>
              <a:rPr lang="en-US" sz="1200" dirty="0"/>
              <a:t> </a:t>
            </a:r>
            <a:r>
              <a:rPr lang="en-US" sz="1200" dirty="0" err="1"/>
              <a:t>kurang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mekanis</a:t>
            </a:r>
            <a:r>
              <a:rPr lang="en-US" sz="1200" dirty="0"/>
              <a:t>. </a:t>
            </a:r>
            <a:r>
              <a:rPr lang="en-US" sz="1200" dirty="0" err="1"/>
              <a:t>Lingkungan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 yang </a:t>
            </a:r>
            <a:r>
              <a:rPr lang="en-US" sz="1200" dirty="0" err="1"/>
              <a:t>disukai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sosial</a:t>
            </a:r>
            <a:r>
              <a:rPr lang="en-US" sz="1200" dirty="0"/>
              <a:t> </a:t>
            </a:r>
            <a:r>
              <a:rPr lang="en-US" sz="1200" dirty="0" err="1"/>
              <a:t>mendorong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 </a:t>
            </a:r>
            <a:r>
              <a:rPr lang="en-US" sz="1200" dirty="0" err="1"/>
              <a:t>tim</a:t>
            </a:r>
            <a:r>
              <a:rPr lang="en-US" sz="1200" dirty="0"/>
              <a:t> dan </a:t>
            </a:r>
            <a:r>
              <a:rPr lang="en-US" sz="1200" dirty="0" err="1"/>
              <a:t>memungkinkan</a:t>
            </a:r>
            <a:r>
              <a:rPr lang="en-US" sz="1200" dirty="0"/>
              <a:t> </a:t>
            </a:r>
            <a:r>
              <a:rPr lang="en-US" sz="1200" dirty="0" err="1"/>
              <a:t>interaksi</a:t>
            </a:r>
            <a:r>
              <a:rPr lang="en-US" sz="1200" dirty="0"/>
              <a:t> yang </a:t>
            </a:r>
            <a:r>
              <a:rPr lang="en-US" sz="1200" dirty="0" err="1"/>
              <a:t>signifikan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orang lain. </a:t>
            </a:r>
            <a:r>
              <a:rPr lang="en-US" sz="1200" dirty="0" err="1"/>
              <a:t>Karir</a:t>
            </a:r>
            <a:r>
              <a:rPr lang="en-US" sz="1200" dirty="0"/>
              <a:t> </a:t>
            </a:r>
            <a:r>
              <a:rPr lang="en-US" sz="1200" dirty="0" err="1"/>
              <a:t>sosial</a:t>
            </a:r>
            <a:r>
              <a:rPr lang="en-US" sz="1200" dirty="0"/>
              <a:t> yang </a:t>
            </a:r>
            <a:r>
              <a:rPr lang="en-US" sz="1200" dirty="0" err="1"/>
              <a:t>khas</a:t>
            </a:r>
            <a:r>
              <a:rPr lang="en-US" sz="1200" dirty="0"/>
              <a:t> </a:t>
            </a:r>
            <a:r>
              <a:rPr lang="en-US" sz="1200" dirty="0" err="1"/>
              <a:t>termasuk</a:t>
            </a:r>
            <a:r>
              <a:rPr lang="en-US" sz="1200" dirty="0"/>
              <a:t> guru, </a:t>
            </a:r>
            <a:r>
              <a:rPr lang="en-US" sz="1200" dirty="0" err="1"/>
              <a:t>konselor</a:t>
            </a:r>
            <a:r>
              <a:rPr lang="en-US" sz="1200" dirty="0"/>
              <a:t> dan </a:t>
            </a:r>
            <a:r>
              <a:rPr lang="en-US" sz="1200" dirty="0" err="1"/>
              <a:t>pekerja</a:t>
            </a:r>
            <a:r>
              <a:rPr lang="en-US" sz="1200" dirty="0"/>
              <a:t> </a:t>
            </a:r>
            <a:r>
              <a:rPr lang="en-US" sz="1200" dirty="0" err="1"/>
              <a:t>sosial</a:t>
            </a:r>
            <a:r>
              <a:rPr lang="en-US" sz="1200" dirty="0"/>
              <a:t>.</a:t>
            </a:r>
          </a:p>
          <a:p>
            <a:pPr marL="0" indent="0" algn="just">
              <a:buNone/>
            </a:pPr>
            <a:r>
              <a:rPr lang="en-US" sz="1200" b="1" i="1" dirty="0" err="1"/>
              <a:t>Tipe</a:t>
            </a:r>
            <a:r>
              <a:rPr lang="en-US" sz="1200" b="1" i="1" dirty="0"/>
              <a:t> 5 - </a:t>
            </a:r>
            <a:r>
              <a:rPr lang="en-US" sz="1200" b="1" i="1" dirty="0" err="1"/>
              <a:t>Enterpreuner</a:t>
            </a:r>
            <a:r>
              <a:rPr lang="en-US" sz="1200" b="1" i="1" dirty="0"/>
              <a:t> (E)</a:t>
            </a:r>
          </a:p>
          <a:p>
            <a:pPr marL="0" indent="0" algn="just">
              <a:buNone/>
            </a:pPr>
            <a:r>
              <a:rPr lang="en-US" sz="1200" dirty="0" err="1"/>
              <a:t>Individu</a:t>
            </a:r>
            <a:r>
              <a:rPr lang="en-US" sz="1200" dirty="0"/>
              <a:t> yang </a:t>
            </a:r>
            <a:r>
              <a:rPr lang="en-US" sz="1200" dirty="0" err="1"/>
              <a:t>giat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</a:t>
            </a:r>
            <a:r>
              <a:rPr lang="en-US" sz="1200" dirty="0" err="1"/>
              <a:t>individu</a:t>
            </a:r>
            <a:r>
              <a:rPr lang="en-US" sz="1200" dirty="0"/>
              <a:t> yang </a:t>
            </a:r>
            <a:r>
              <a:rPr lang="en-US" sz="1200" dirty="0" err="1"/>
              <a:t>energik</a:t>
            </a:r>
            <a:r>
              <a:rPr lang="en-US" sz="1200" dirty="0"/>
              <a:t>, </a:t>
            </a:r>
            <a:r>
              <a:rPr lang="en-US" sz="1200" dirty="0" err="1"/>
              <a:t>ambisius</a:t>
            </a:r>
            <a:r>
              <a:rPr lang="en-US" sz="1200" dirty="0"/>
              <a:t>, </a:t>
            </a:r>
            <a:r>
              <a:rPr lang="en-US" sz="1200" dirty="0" err="1"/>
              <a:t>suka</a:t>
            </a:r>
            <a:r>
              <a:rPr lang="en-US" sz="1200" dirty="0"/>
              <a:t> </a:t>
            </a:r>
            <a:r>
              <a:rPr lang="en-US" sz="1200" dirty="0" err="1"/>
              <a:t>bertualang</a:t>
            </a:r>
            <a:r>
              <a:rPr lang="en-US" sz="1200" dirty="0"/>
              <a:t>, </a:t>
            </a:r>
            <a:r>
              <a:rPr lang="en-US" sz="1200" dirty="0" err="1"/>
              <a:t>mudah</a:t>
            </a:r>
            <a:r>
              <a:rPr lang="en-US" sz="1200" dirty="0"/>
              <a:t> </a:t>
            </a:r>
            <a:r>
              <a:rPr lang="en-US" sz="1200" dirty="0" err="1"/>
              <a:t>bergaul</a:t>
            </a:r>
            <a:r>
              <a:rPr lang="en-US" sz="1200" dirty="0"/>
              <a:t>, dan </a:t>
            </a:r>
            <a:r>
              <a:rPr lang="en-US" sz="1200" dirty="0" err="1"/>
              <a:t>percaya</a:t>
            </a:r>
            <a:r>
              <a:rPr lang="en-US" sz="1200" dirty="0"/>
              <a:t> </a:t>
            </a:r>
            <a:r>
              <a:rPr lang="en-US" sz="1200" dirty="0" err="1"/>
              <a:t>diri</a:t>
            </a:r>
            <a:r>
              <a:rPr lang="en-US" sz="1200" dirty="0"/>
              <a:t>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menikmati</a:t>
            </a:r>
            <a:r>
              <a:rPr lang="en-US" sz="1200" dirty="0"/>
              <a:t> </a:t>
            </a:r>
            <a:r>
              <a:rPr lang="en-US" sz="1200" dirty="0" err="1"/>
              <a:t>aktivitas</a:t>
            </a:r>
            <a:r>
              <a:rPr lang="en-US" sz="1200" dirty="0"/>
              <a:t> yang </a:t>
            </a:r>
            <a:r>
              <a:rPr lang="en-US" sz="1200" dirty="0" err="1"/>
              <a:t>mengharuskan</a:t>
            </a:r>
            <a:r>
              <a:rPr lang="en-US" sz="1200" dirty="0"/>
              <a:t>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membujuk</a:t>
            </a:r>
            <a:r>
              <a:rPr lang="en-US" sz="1200" dirty="0"/>
              <a:t> orang lain,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penjualan</a:t>
            </a:r>
            <a:r>
              <a:rPr lang="en-US" sz="1200" dirty="0"/>
              <a:t>, dan </a:t>
            </a:r>
            <a:r>
              <a:rPr lang="en-US" sz="1200" dirty="0" err="1"/>
              <a:t>mencari</a:t>
            </a:r>
            <a:r>
              <a:rPr lang="en-US" sz="1200" dirty="0"/>
              <a:t> </a:t>
            </a:r>
            <a:r>
              <a:rPr lang="en-US" sz="1200" dirty="0" err="1"/>
              <a:t>peran</a:t>
            </a:r>
            <a:r>
              <a:rPr lang="en-US" sz="1200" dirty="0"/>
              <a:t> </a:t>
            </a:r>
            <a:r>
              <a:rPr lang="en-US" sz="1200" dirty="0" err="1"/>
              <a:t>kepemimpinan</a:t>
            </a:r>
            <a:r>
              <a:rPr lang="en-US" sz="1200" dirty="0"/>
              <a:t>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diperkuat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antarpribadi</a:t>
            </a:r>
            <a:r>
              <a:rPr lang="en-US" sz="1200" dirty="0"/>
              <a:t>, </a:t>
            </a:r>
            <a:r>
              <a:rPr lang="en-US" sz="1200" dirty="0" err="1"/>
              <a:t>kepemimpinan</a:t>
            </a:r>
            <a:r>
              <a:rPr lang="en-US" sz="1200" dirty="0"/>
              <a:t>, dan </a:t>
            </a:r>
            <a:r>
              <a:rPr lang="en-US" sz="1200" dirty="0" err="1"/>
              <a:t>persuasif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mencapai</a:t>
            </a:r>
            <a:r>
              <a:rPr lang="en-US" sz="1200" dirty="0"/>
              <a:t> </a:t>
            </a:r>
            <a:r>
              <a:rPr lang="en-US" sz="1200" dirty="0" err="1"/>
              <a:t>tujuan</a:t>
            </a:r>
            <a:r>
              <a:rPr lang="en-US" sz="1200" dirty="0"/>
              <a:t> </a:t>
            </a:r>
            <a:r>
              <a:rPr lang="en-US" sz="1200" dirty="0" err="1"/>
              <a:t>organisasi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keuntungan</a:t>
            </a:r>
            <a:r>
              <a:rPr lang="en-US" sz="1200" dirty="0"/>
              <a:t> </a:t>
            </a:r>
            <a:r>
              <a:rPr lang="en-US" sz="1200" dirty="0" err="1"/>
              <a:t>ekonomi</a:t>
            </a:r>
            <a:r>
              <a:rPr lang="en-US" sz="1200" dirty="0"/>
              <a:t>, </a:t>
            </a:r>
            <a:r>
              <a:rPr lang="en-US" sz="1200" dirty="0" err="1"/>
              <a:t>namun</a:t>
            </a:r>
            <a:r>
              <a:rPr lang="en-US" sz="1200" dirty="0"/>
              <a:t> </a:t>
            </a:r>
            <a:r>
              <a:rPr lang="en-US" sz="1200" dirty="0" err="1"/>
              <a:t>mungkin</a:t>
            </a:r>
            <a:r>
              <a:rPr lang="en-US" sz="1200" dirty="0"/>
              <a:t> </a:t>
            </a:r>
            <a:r>
              <a:rPr lang="en-US" sz="1200" dirty="0" err="1"/>
              <a:t>menghindari</a:t>
            </a:r>
            <a:r>
              <a:rPr lang="en-US" sz="1200" dirty="0"/>
              <a:t> </a:t>
            </a:r>
            <a:r>
              <a:rPr lang="en-US" sz="1200" dirty="0" err="1"/>
              <a:t>aktivitas</a:t>
            </a:r>
            <a:r>
              <a:rPr lang="en-US" sz="1200" dirty="0"/>
              <a:t> </a:t>
            </a:r>
            <a:r>
              <a:rPr lang="en-US" sz="1200" dirty="0" err="1"/>
              <a:t>rutin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sistematis</a:t>
            </a:r>
            <a:r>
              <a:rPr lang="en-US" sz="1200" dirty="0"/>
              <a:t>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sering</a:t>
            </a:r>
            <a:r>
              <a:rPr lang="en-US" sz="1200" dirty="0"/>
              <a:t> kali </a:t>
            </a:r>
            <a:r>
              <a:rPr lang="en-US" sz="1200" dirty="0" err="1"/>
              <a:t>merupakan</a:t>
            </a:r>
            <a:r>
              <a:rPr lang="en-US" sz="1200" dirty="0"/>
              <a:t> </a:t>
            </a:r>
            <a:r>
              <a:rPr lang="en-US" sz="1200" dirty="0" err="1"/>
              <a:t>pembicara</a:t>
            </a:r>
            <a:r>
              <a:rPr lang="en-US" sz="1200" dirty="0"/>
              <a:t> </a:t>
            </a:r>
            <a:r>
              <a:rPr lang="en-US" sz="1200" dirty="0" err="1"/>
              <a:t>publik</a:t>
            </a:r>
            <a:r>
              <a:rPr lang="en-US" sz="1200" dirty="0"/>
              <a:t> yang </a:t>
            </a:r>
            <a:r>
              <a:rPr lang="en-US" sz="1200" dirty="0" err="1"/>
              <a:t>efektif</a:t>
            </a:r>
            <a:r>
              <a:rPr lang="en-US" sz="1200" dirty="0"/>
              <a:t> dan </a:t>
            </a:r>
            <a:r>
              <a:rPr lang="en-US" sz="1200" dirty="0" err="1"/>
              <a:t>umumnya</a:t>
            </a:r>
            <a:r>
              <a:rPr lang="en-US" sz="1200" dirty="0"/>
              <a:t> </a:t>
            </a:r>
            <a:r>
              <a:rPr lang="en-US" sz="1200" dirty="0" err="1"/>
              <a:t>mudah</a:t>
            </a:r>
            <a:r>
              <a:rPr lang="en-US" sz="1200" dirty="0"/>
              <a:t> </a:t>
            </a:r>
            <a:r>
              <a:rPr lang="en-US" sz="1200" dirty="0" err="1"/>
              <a:t>bergaul</a:t>
            </a:r>
            <a:r>
              <a:rPr lang="en-US" sz="1200" dirty="0"/>
              <a:t> </a:t>
            </a:r>
            <a:r>
              <a:rPr lang="en-US" sz="1200" dirty="0" err="1"/>
              <a:t>namun</a:t>
            </a:r>
            <a:r>
              <a:rPr lang="en-US" sz="1200" dirty="0"/>
              <a:t> </a:t>
            </a:r>
            <a:r>
              <a:rPr lang="en-US" sz="1200" dirty="0" err="1"/>
              <a:t>mungkin</a:t>
            </a:r>
            <a:r>
              <a:rPr lang="en-US" sz="1200" dirty="0"/>
              <a:t> </a:t>
            </a:r>
            <a:r>
              <a:rPr lang="en-US" sz="1200" dirty="0" err="1"/>
              <a:t>dianggap</a:t>
            </a:r>
            <a:r>
              <a:rPr lang="en-US" sz="1200" dirty="0"/>
              <a:t> </a:t>
            </a:r>
            <a:r>
              <a:rPr lang="en-US" sz="1200" dirty="0" err="1"/>
              <a:t>mendominasi</a:t>
            </a:r>
            <a:r>
              <a:rPr lang="en-US" sz="1200" dirty="0"/>
              <a:t>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memandang</a:t>
            </a:r>
            <a:r>
              <a:rPr lang="en-US" sz="1200" dirty="0"/>
              <a:t> </a:t>
            </a:r>
            <a:r>
              <a:rPr lang="en-US" sz="1200" dirty="0" err="1"/>
              <a:t>diri</a:t>
            </a:r>
            <a:r>
              <a:rPr lang="en-US" sz="1200" dirty="0"/>
              <a:t>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orang yang </a:t>
            </a:r>
            <a:r>
              <a:rPr lang="en-US" sz="1200" dirty="0" err="1"/>
              <a:t>tegas</a:t>
            </a:r>
            <a:r>
              <a:rPr lang="en-US" sz="1200" dirty="0"/>
              <a:t>, </a:t>
            </a:r>
            <a:r>
              <a:rPr lang="en-US" sz="1200" dirty="0" err="1"/>
              <a:t>percaya</a:t>
            </a:r>
            <a:r>
              <a:rPr lang="en-US" sz="1200" dirty="0"/>
              <a:t> </a:t>
            </a:r>
            <a:r>
              <a:rPr lang="en-US" sz="1200" dirty="0" err="1"/>
              <a:t>diri</a:t>
            </a:r>
            <a:r>
              <a:rPr lang="en-US" sz="1200" dirty="0"/>
              <a:t>, dan </a:t>
            </a:r>
            <a:r>
              <a:rPr lang="en-US" sz="1200" dirty="0" err="1"/>
              <a:t>terampil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kepemimpinan</a:t>
            </a:r>
            <a:r>
              <a:rPr lang="en-US" sz="1200" dirty="0"/>
              <a:t> dan </a:t>
            </a:r>
            <a:r>
              <a:rPr lang="en-US" sz="1200" dirty="0" err="1"/>
              <a:t>berbicara</a:t>
            </a:r>
            <a:r>
              <a:rPr lang="en-US" sz="1200" dirty="0"/>
              <a:t>, </a:t>
            </a:r>
            <a:r>
              <a:rPr lang="en-US" sz="1200" dirty="0" err="1"/>
              <a:t>namun</a:t>
            </a:r>
            <a:r>
              <a:rPr lang="en-US" sz="1200" dirty="0"/>
              <a:t> </a:t>
            </a:r>
            <a:r>
              <a:rPr lang="en-US" sz="1200" dirty="0" err="1"/>
              <a:t>kurang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ilmiah</a:t>
            </a:r>
            <a:r>
              <a:rPr lang="en-US" sz="1200" dirty="0"/>
              <a:t>. </a:t>
            </a:r>
            <a:r>
              <a:rPr lang="en-US" sz="1200" dirty="0" err="1"/>
              <a:t>Lingkungan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 yang </a:t>
            </a:r>
            <a:r>
              <a:rPr lang="en-US" sz="1200" dirty="0" err="1"/>
              <a:t>disukai</a:t>
            </a:r>
            <a:r>
              <a:rPr lang="en-US" sz="1200" dirty="0"/>
              <a:t>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Enterpreuner</a:t>
            </a:r>
            <a:r>
              <a:rPr lang="en-US" sz="1200" dirty="0"/>
              <a:t> (</a:t>
            </a:r>
            <a:r>
              <a:rPr lang="en-US" sz="1200" dirty="0" err="1"/>
              <a:t>wirausaha</a:t>
            </a:r>
            <a:r>
              <a:rPr lang="en-US" sz="1200" dirty="0"/>
              <a:t>) </a:t>
            </a:r>
            <a:r>
              <a:rPr lang="en-US" sz="1200" dirty="0" err="1"/>
              <a:t>mendorong</a:t>
            </a:r>
            <a:r>
              <a:rPr lang="en-US" sz="1200" dirty="0"/>
              <a:t>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terlibat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aktivitas</a:t>
            </a:r>
            <a:r>
              <a:rPr lang="en-US" sz="1200" dirty="0"/>
              <a:t>,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kepemimpinan</a:t>
            </a:r>
            <a:r>
              <a:rPr lang="en-US" sz="1200" dirty="0"/>
              <a:t>, </a:t>
            </a:r>
            <a:r>
              <a:rPr lang="en-US" sz="1200" dirty="0" err="1"/>
              <a:t>manajemen</a:t>
            </a:r>
            <a:r>
              <a:rPr lang="en-US" sz="1200" dirty="0"/>
              <a:t>, dan </a:t>
            </a:r>
            <a:r>
              <a:rPr lang="en-US" sz="1200" dirty="0" err="1"/>
              <a:t>penjualan</a:t>
            </a:r>
            <a:r>
              <a:rPr lang="en-US" sz="1200" dirty="0"/>
              <a:t>, </a:t>
            </a:r>
            <a:r>
              <a:rPr lang="en-US" sz="1200" dirty="0" err="1"/>
              <a:t>serta</a:t>
            </a:r>
            <a:r>
              <a:rPr lang="en-US" sz="1200" dirty="0"/>
              <a:t> </a:t>
            </a:r>
            <a:r>
              <a:rPr lang="en-US" sz="1200" dirty="0" err="1"/>
              <a:t>memberi</a:t>
            </a:r>
            <a:r>
              <a:rPr lang="en-US" sz="1200" dirty="0"/>
              <a:t> </a:t>
            </a:r>
            <a:r>
              <a:rPr lang="en-US" sz="1200" dirty="0" err="1"/>
              <a:t>penghargaan</a:t>
            </a:r>
            <a:r>
              <a:rPr lang="en-US" sz="1200" dirty="0"/>
              <a:t> </a:t>
            </a:r>
            <a:r>
              <a:rPr lang="en-US" sz="1200" dirty="0" err="1"/>
              <a:t>kepada</a:t>
            </a:r>
            <a:r>
              <a:rPr lang="en-US" sz="1200" dirty="0"/>
              <a:t>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melalui</a:t>
            </a:r>
            <a:r>
              <a:rPr lang="en-US" sz="1200" dirty="0"/>
              <a:t> </a:t>
            </a:r>
            <a:r>
              <a:rPr lang="en-US" sz="1200" dirty="0" err="1"/>
              <a:t>pencapaian</a:t>
            </a:r>
            <a:r>
              <a:rPr lang="en-US" sz="1200" dirty="0"/>
              <a:t> uang, </a:t>
            </a:r>
            <a:r>
              <a:rPr lang="en-US" sz="1200" dirty="0" err="1"/>
              <a:t>kekuasaan</a:t>
            </a:r>
            <a:r>
              <a:rPr lang="en-US" sz="1200" dirty="0"/>
              <a:t>, dan status. </a:t>
            </a:r>
            <a:r>
              <a:rPr lang="en-US" sz="1200" dirty="0" err="1"/>
              <a:t>Karier</a:t>
            </a:r>
            <a:r>
              <a:rPr lang="en-US" sz="1200" dirty="0"/>
              <a:t> </a:t>
            </a:r>
            <a:r>
              <a:rPr lang="en-US" sz="1200" dirty="0" err="1"/>
              <a:t>wirausaha</a:t>
            </a:r>
            <a:r>
              <a:rPr lang="en-US" sz="1200" dirty="0"/>
              <a:t> yang </a:t>
            </a:r>
            <a:r>
              <a:rPr lang="en-US" sz="1200" dirty="0" err="1"/>
              <a:t>umum</a:t>
            </a:r>
            <a:r>
              <a:rPr lang="en-US" sz="1200" dirty="0"/>
              <a:t> </a:t>
            </a:r>
            <a:r>
              <a:rPr lang="en-US" sz="1200" dirty="0" err="1"/>
              <a:t>meliputi</a:t>
            </a:r>
            <a:r>
              <a:rPr lang="en-US" sz="1200" dirty="0"/>
              <a:t> </a:t>
            </a:r>
            <a:r>
              <a:rPr lang="en-US" sz="1200" dirty="0" err="1"/>
              <a:t>tenaga</a:t>
            </a:r>
            <a:r>
              <a:rPr lang="en-US" sz="1200" dirty="0"/>
              <a:t> </a:t>
            </a:r>
            <a:r>
              <a:rPr lang="en-US" sz="1200" dirty="0" err="1"/>
              <a:t>penjualan</a:t>
            </a:r>
            <a:r>
              <a:rPr lang="en-US" sz="1200" dirty="0"/>
              <a:t>, </a:t>
            </a:r>
            <a:r>
              <a:rPr lang="en-US" sz="1200" dirty="0" err="1"/>
              <a:t>eksekutif</a:t>
            </a:r>
            <a:r>
              <a:rPr lang="en-US" sz="1200" dirty="0"/>
              <a:t> </a:t>
            </a:r>
            <a:r>
              <a:rPr lang="en-US" sz="1200" dirty="0" err="1"/>
              <a:t>bisnis</a:t>
            </a:r>
            <a:r>
              <a:rPr lang="en-US" sz="1200" dirty="0"/>
              <a:t>, dan </a:t>
            </a:r>
            <a:r>
              <a:rPr lang="en-US" sz="1200" dirty="0" err="1"/>
              <a:t>manajer</a:t>
            </a:r>
            <a:r>
              <a:rPr lang="en-US" sz="1200" dirty="0"/>
              <a:t>.</a:t>
            </a:r>
          </a:p>
          <a:p>
            <a:pPr marL="0" indent="0" algn="just">
              <a:buNone/>
            </a:pPr>
            <a:r>
              <a:rPr lang="en-US" sz="1200" b="1" i="1" dirty="0" err="1"/>
              <a:t>Tipe</a:t>
            </a:r>
            <a:r>
              <a:rPr lang="en-US" sz="1200" b="1" i="1" dirty="0"/>
              <a:t> 6 - </a:t>
            </a:r>
            <a:r>
              <a:rPr lang="en-US" sz="1200" b="1" i="1" dirty="0" err="1"/>
              <a:t>Konvensional</a:t>
            </a:r>
            <a:r>
              <a:rPr lang="en-US" sz="1200" b="1" i="1" dirty="0"/>
              <a:t> (C)</a:t>
            </a:r>
          </a:p>
          <a:p>
            <a:pPr marL="0" indent="0" algn="just">
              <a:buNone/>
            </a:pPr>
            <a:r>
              <a:rPr lang="en-US" sz="1200" dirty="0" err="1"/>
              <a:t>Individu</a:t>
            </a:r>
            <a:r>
              <a:rPr lang="en-US" sz="1200" dirty="0"/>
              <a:t> </a:t>
            </a:r>
            <a:r>
              <a:rPr lang="en-US" sz="1200" dirty="0" err="1"/>
              <a:t>konvensional</a:t>
            </a:r>
            <a:r>
              <a:rPr lang="en-US" sz="1200" dirty="0"/>
              <a:t> </a:t>
            </a:r>
            <a:r>
              <a:rPr lang="en-US" sz="1200" dirty="0" err="1"/>
              <a:t>bersifat</a:t>
            </a:r>
            <a:r>
              <a:rPr lang="en-US" sz="1200" dirty="0"/>
              <a:t> </a:t>
            </a:r>
            <a:r>
              <a:rPr lang="en-US" sz="1200" dirty="0" err="1"/>
              <a:t>efisien</a:t>
            </a:r>
            <a:r>
              <a:rPr lang="en-US" sz="1200" dirty="0"/>
              <a:t>, </a:t>
            </a:r>
            <a:r>
              <a:rPr lang="en-US" sz="1200" dirty="0" err="1"/>
              <a:t>hati-hati</a:t>
            </a:r>
            <a:r>
              <a:rPr lang="en-US" sz="1200" dirty="0"/>
              <a:t>, </a:t>
            </a:r>
            <a:r>
              <a:rPr lang="en-US" sz="1200" dirty="0" err="1"/>
              <a:t>patuh</a:t>
            </a:r>
            <a:r>
              <a:rPr lang="en-US" sz="1200" dirty="0"/>
              <a:t>, </a:t>
            </a:r>
            <a:r>
              <a:rPr lang="en-US" sz="1200" dirty="0" err="1"/>
              <a:t>terorganisir</a:t>
            </a:r>
            <a:r>
              <a:rPr lang="en-US" sz="1200" dirty="0"/>
              <a:t>, dan </a:t>
            </a:r>
            <a:r>
              <a:rPr lang="en-US" sz="1200" dirty="0" err="1"/>
              <a:t>teliti</a:t>
            </a:r>
            <a:r>
              <a:rPr lang="en-US" sz="1200" dirty="0"/>
              <a:t>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merasa</a:t>
            </a:r>
            <a:r>
              <a:rPr lang="en-US" sz="1200" dirty="0"/>
              <a:t> </a:t>
            </a:r>
            <a:r>
              <a:rPr lang="en-US" sz="1200" dirty="0" err="1"/>
              <a:t>nyaman</a:t>
            </a:r>
            <a:r>
              <a:rPr lang="en-US" sz="1200" dirty="0"/>
              <a:t> </a:t>
            </a:r>
            <a:r>
              <a:rPr lang="en-US" sz="1200" dirty="0" err="1"/>
              <a:t>bekerja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rantai</a:t>
            </a:r>
            <a:r>
              <a:rPr lang="en-US" sz="1200" dirty="0"/>
              <a:t> </a:t>
            </a:r>
            <a:r>
              <a:rPr lang="en-US" sz="1200" dirty="0" err="1"/>
              <a:t>komando</a:t>
            </a:r>
            <a:r>
              <a:rPr lang="en-US" sz="1200" dirty="0"/>
              <a:t> yang </a:t>
            </a:r>
            <a:r>
              <a:rPr lang="en-US" sz="1200" dirty="0" err="1"/>
              <a:t>sudah</a:t>
            </a:r>
            <a:r>
              <a:rPr lang="en-US" sz="1200" dirty="0"/>
              <a:t> </a:t>
            </a:r>
            <a:r>
              <a:rPr lang="en-US" sz="1200" dirty="0" err="1"/>
              <a:t>mapan</a:t>
            </a:r>
            <a:r>
              <a:rPr lang="en-US" sz="1200" dirty="0"/>
              <a:t> dan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memilih</a:t>
            </a:r>
            <a:r>
              <a:rPr lang="en-US" sz="1200" dirty="0"/>
              <a:t> </a:t>
            </a:r>
            <a:r>
              <a:rPr lang="en-US" sz="1200" dirty="0" err="1"/>
              <a:t>melaksanakan</a:t>
            </a:r>
            <a:r>
              <a:rPr lang="en-US" sz="1200" dirty="0"/>
              <a:t> </a:t>
            </a:r>
            <a:r>
              <a:rPr lang="en-US" sz="1200" dirty="0" err="1"/>
              <a:t>instruksi</a:t>
            </a:r>
            <a:r>
              <a:rPr lang="en-US" sz="1200" dirty="0"/>
              <a:t> yang </a:t>
            </a:r>
            <a:r>
              <a:rPr lang="en-US" sz="1200" dirty="0" err="1"/>
              <a:t>jelas</a:t>
            </a:r>
            <a:r>
              <a:rPr lang="en-US" sz="1200" dirty="0"/>
              <a:t> </a:t>
            </a:r>
            <a:r>
              <a:rPr lang="en-US" sz="1200" dirty="0" err="1"/>
              <a:t>dibandingkan</a:t>
            </a:r>
            <a:r>
              <a:rPr lang="en-US" sz="1200" dirty="0"/>
              <a:t> </a:t>
            </a:r>
            <a:r>
              <a:rPr lang="en-US" sz="1200" dirty="0" err="1"/>
              <a:t>mengambil</a:t>
            </a:r>
            <a:r>
              <a:rPr lang="en-US" sz="1200" dirty="0"/>
              <a:t> </a:t>
            </a:r>
            <a:r>
              <a:rPr lang="en-US" sz="1200" dirty="0" err="1"/>
              <a:t>peran</a:t>
            </a:r>
            <a:r>
              <a:rPr lang="en-US" sz="1200" dirty="0"/>
              <a:t> </a:t>
            </a:r>
            <a:r>
              <a:rPr lang="en-US" sz="1200" dirty="0" err="1"/>
              <a:t>kepemimpinan</a:t>
            </a:r>
            <a:r>
              <a:rPr lang="en-US" sz="1200" dirty="0"/>
              <a:t>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lebih</a:t>
            </a:r>
            <a:r>
              <a:rPr lang="en-US" sz="1200" dirty="0"/>
              <a:t> </a:t>
            </a:r>
            <a:r>
              <a:rPr lang="en-US" sz="1200" dirty="0" err="1"/>
              <a:t>menyukai</a:t>
            </a:r>
            <a:r>
              <a:rPr lang="en-US" sz="1200" dirty="0"/>
              <a:t> </a:t>
            </a:r>
            <a:r>
              <a:rPr lang="en-US" sz="1200" dirty="0" err="1"/>
              <a:t>aktivitas</a:t>
            </a:r>
            <a:r>
              <a:rPr lang="en-US" sz="1200" dirty="0"/>
              <a:t> yang </a:t>
            </a:r>
            <a:r>
              <a:rPr lang="en-US" sz="1200" dirty="0" err="1"/>
              <a:t>terorganisir</a:t>
            </a:r>
            <a:r>
              <a:rPr lang="en-US" sz="1200" dirty="0"/>
              <a:t>, </a:t>
            </a:r>
            <a:r>
              <a:rPr lang="en-US" sz="1200" dirty="0" err="1"/>
              <a:t>sistematis</a:t>
            </a:r>
            <a:r>
              <a:rPr lang="en-US" sz="1200" dirty="0"/>
              <a:t>, dan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menyukai</a:t>
            </a:r>
            <a:r>
              <a:rPr lang="en-US" sz="1200" dirty="0"/>
              <a:t> </a:t>
            </a:r>
            <a:r>
              <a:rPr lang="en-US" sz="1200" dirty="0" err="1"/>
              <a:t>ambiguitas</a:t>
            </a:r>
            <a:r>
              <a:rPr lang="en-US" sz="1200" dirty="0"/>
              <a:t>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terampil</a:t>
            </a:r>
            <a:r>
              <a:rPr lang="en-US" sz="1200" dirty="0"/>
              <a:t> dan </a:t>
            </a:r>
            <a:r>
              <a:rPr lang="en-US" sz="1200" dirty="0" err="1"/>
              <a:t>sering</a:t>
            </a:r>
            <a:r>
              <a:rPr lang="en-US" sz="1200" dirty="0"/>
              <a:t> kali </a:t>
            </a:r>
            <a:r>
              <a:rPr lang="en-US" sz="1200" dirty="0" err="1"/>
              <a:t>senang</a:t>
            </a:r>
            <a:r>
              <a:rPr lang="en-US" sz="1200" dirty="0"/>
              <a:t> </a:t>
            </a:r>
            <a:r>
              <a:rPr lang="en-US" sz="1200" dirty="0" err="1"/>
              <a:t>memelihara</a:t>
            </a:r>
            <a:r>
              <a:rPr lang="en-US" sz="1200" dirty="0"/>
              <a:t> dan </a:t>
            </a:r>
            <a:r>
              <a:rPr lang="en-US" sz="1200" dirty="0" err="1"/>
              <a:t>memanipulasi</a:t>
            </a:r>
            <a:r>
              <a:rPr lang="en-US" sz="1200" dirty="0"/>
              <a:t> data, </a:t>
            </a:r>
            <a:r>
              <a:rPr lang="en-US" sz="1200" dirty="0" err="1"/>
              <a:t>mengatur</a:t>
            </a:r>
            <a:r>
              <a:rPr lang="en-US" sz="1200" dirty="0"/>
              <a:t> </a:t>
            </a:r>
            <a:r>
              <a:rPr lang="en-US" sz="1200" dirty="0" err="1"/>
              <a:t>jadwal</a:t>
            </a:r>
            <a:r>
              <a:rPr lang="en-US" sz="1200" dirty="0"/>
              <a:t>, dan </a:t>
            </a:r>
            <a:r>
              <a:rPr lang="en-US" sz="1200" dirty="0" err="1"/>
              <a:t>mengoperasikan</a:t>
            </a:r>
            <a:r>
              <a:rPr lang="en-US" sz="1200" dirty="0"/>
              <a:t> </a:t>
            </a:r>
            <a:r>
              <a:rPr lang="en-US" sz="1200" dirty="0" err="1"/>
              <a:t>peralatan</a:t>
            </a:r>
            <a:r>
              <a:rPr lang="en-US" sz="1200" dirty="0"/>
              <a:t> </a:t>
            </a:r>
            <a:r>
              <a:rPr lang="en-US" sz="1200" dirty="0" err="1"/>
              <a:t>kantor</a:t>
            </a:r>
            <a:r>
              <a:rPr lang="en-US" sz="1200" dirty="0"/>
              <a:t>. </a:t>
            </a:r>
            <a:r>
              <a:rPr lang="en-US" sz="1200" dirty="0" err="1"/>
              <a:t>Meskipun</a:t>
            </a:r>
            <a:r>
              <a:rPr lang="en-US" sz="1200" dirty="0"/>
              <a:t>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jarang</a:t>
            </a:r>
            <a:r>
              <a:rPr lang="en-US" sz="1200" dirty="0"/>
              <a:t> </a:t>
            </a:r>
            <a:r>
              <a:rPr lang="en-US" sz="1200" dirty="0" err="1"/>
              <a:t>mencari</a:t>
            </a:r>
            <a:r>
              <a:rPr lang="en-US" sz="1200" dirty="0"/>
              <a:t> </a:t>
            </a:r>
            <a:r>
              <a:rPr lang="en-US" sz="1200" dirty="0" err="1"/>
              <a:t>peran</a:t>
            </a:r>
            <a:r>
              <a:rPr lang="en-US" sz="1200" dirty="0"/>
              <a:t> </a:t>
            </a:r>
            <a:r>
              <a:rPr lang="en-US" sz="1200" dirty="0" err="1"/>
              <a:t>kepemimpinan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“</a:t>
            </a:r>
            <a:r>
              <a:rPr lang="en-US" sz="1200" dirty="0" err="1"/>
              <a:t>sorotan</a:t>
            </a:r>
            <a:r>
              <a:rPr lang="en-US" sz="1200" dirty="0"/>
              <a:t>”,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teliti</a:t>
            </a:r>
            <a:r>
              <a:rPr lang="en-US" sz="1200" dirty="0"/>
              <a:t>, </a:t>
            </a:r>
            <a:r>
              <a:rPr lang="en-US" sz="1200" dirty="0" err="1"/>
              <a:t>gigih</a:t>
            </a:r>
            <a:r>
              <a:rPr lang="en-US" sz="1200" dirty="0"/>
              <a:t>, dan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diandalkan</a:t>
            </a:r>
            <a:r>
              <a:rPr lang="en-US" sz="1200" dirty="0"/>
              <a:t>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melaksanakan</a:t>
            </a:r>
            <a:r>
              <a:rPr lang="en-US" sz="1200" dirty="0"/>
              <a:t> </a:t>
            </a:r>
            <a:r>
              <a:rPr lang="en-US" sz="1200" dirty="0" err="1"/>
              <a:t>tugas</a:t>
            </a:r>
            <a:r>
              <a:rPr lang="en-US" sz="1200" dirty="0"/>
              <a:t>.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konvensional</a:t>
            </a:r>
            <a:r>
              <a:rPr lang="en-US" sz="1200" dirty="0"/>
              <a:t> </a:t>
            </a:r>
            <a:r>
              <a:rPr lang="en-US" sz="1200" dirty="0" err="1"/>
              <a:t>memandang</a:t>
            </a:r>
            <a:r>
              <a:rPr lang="en-US" sz="1200" dirty="0"/>
              <a:t> </a:t>
            </a:r>
            <a:r>
              <a:rPr lang="en-US" sz="1200" dirty="0" err="1"/>
              <a:t>diri</a:t>
            </a:r>
            <a:r>
              <a:rPr lang="en-US" sz="1200" dirty="0"/>
              <a:t>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orang yang </a:t>
            </a:r>
            <a:r>
              <a:rPr lang="en-US" sz="1200" dirty="0" err="1"/>
              <a:t>bertanggung</a:t>
            </a:r>
            <a:r>
              <a:rPr lang="en-US" sz="1200" dirty="0"/>
              <a:t> </a:t>
            </a:r>
            <a:r>
              <a:rPr lang="en-US" sz="1200" dirty="0" err="1"/>
              <a:t>jawab</a:t>
            </a:r>
            <a:r>
              <a:rPr lang="en-US" sz="1200" dirty="0"/>
              <a:t>, </a:t>
            </a:r>
            <a:r>
              <a:rPr lang="en-US" sz="1200" dirty="0" err="1"/>
              <a:t>tertib</a:t>
            </a:r>
            <a:r>
              <a:rPr lang="en-US" sz="1200" dirty="0"/>
              <a:t> dan </a:t>
            </a:r>
            <a:r>
              <a:rPr lang="en-US" sz="1200" dirty="0" err="1"/>
              <a:t>efisien</a:t>
            </a:r>
            <a:r>
              <a:rPr lang="en-US" sz="1200" dirty="0"/>
              <a:t>, </a:t>
            </a:r>
            <a:r>
              <a:rPr lang="en-US" sz="1200" dirty="0" err="1"/>
              <a:t>serta</a:t>
            </a:r>
            <a:r>
              <a:rPr lang="en-US" sz="1200" dirty="0"/>
              <a:t> </a:t>
            </a:r>
            <a:r>
              <a:rPr lang="en-US" sz="1200" dirty="0" err="1"/>
              <a:t>memiliki</a:t>
            </a:r>
            <a:r>
              <a:rPr lang="en-US" sz="1200" dirty="0"/>
              <a:t> </a:t>
            </a:r>
            <a:r>
              <a:rPr lang="en-US" sz="1200" dirty="0" err="1"/>
              <a:t>kemampuan</a:t>
            </a:r>
            <a:r>
              <a:rPr lang="en-US" sz="1200" dirty="0"/>
              <a:t> </a:t>
            </a:r>
            <a:r>
              <a:rPr lang="en-US" sz="1200" dirty="0" err="1"/>
              <a:t>klerikal</a:t>
            </a:r>
            <a:r>
              <a:rPr lang="en-US" sz="1200" dirty="0"/>
              <a:t>, </a:t>
            </a:r>
            <a:r>
              <a:rPr lang="en-US" sz="1200" dirty="0" err="1"/>
              <a:t>organisasional</a:t>
            </a:r>
            <a:r>
              <a:rPr lang="en-US" sz="1200" dirty="0"/>
              <a:t>, dan </a:t>
            </a:r>
            <a:r>
              <a:rPr lang="en-US" sz="1200" dirty="0" err="1"/>
              <a:t>numerik</a:t>
            </a:r>
            <a:r>
              <a:rPr lang="en-US" sz="1200" dirty="0"/>
              <a:t>.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mungkin</a:t>
            </a:r>
            <a:r>
              <a:rPr lang="en-US" sz="1200" dirty="0"/>
              <a:t> juga </a:t>
            </a:r>
            <a:r>
              <a:rPr lang="en-US" sz="1200" dirty="0" err="1"/>
              <a:t>menganggap</a:t>
            </a:r>
            <a:r>
              <a:rPr lang="en-US" sz="1200" dirty="0"/>
              <a:t> </a:t>
            </a:r>
            <a:r>
              <a:rPr lang="en-US" sz="1200" dirty="0" err="1"/>
              <a:t>diri</a:t>
            </a:r>
            <a:r>
              <a:rPr lang="en-US" sz="1200" dirty="0"/>
              <a:t> </a:t>
            </a:r>
            <a:r>
              <a:rPr lang="en-US" sz="1200" dirty="0" err="1"/>
              <a:t>mereka</a:t>
            </a:r>
            <a:r>
              <a:rPr lang="en-US" sz="1200" dirty="0"/>
              <a:t> </a:t>
            </a:r>
            <a:r>
              <a:rPr lang="en-US" sz="1200" dirty="0" err="1"/>
              <a:t>tidak</a:t>
            </a:r>
            <a:r>
              <a:rPr lang="en-US" sz="1200" dirty="0"/>
              <a:t> </a:t>
            </a:r>
            <a:r>
              <a:rPr lang="en-US" sz="1200" dirty="0" err="1"/>
              <a:t>imajinatif</a:t>
            </a:r>
            <a:r>
              <a:rPr lang="en-US" sz="1200" dirty="0"/>
              <a:t>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kurang</a:t>
            </a:r>
            <a:r>
              <a:rPr lang="en-US" sz="1200" dirty="0"/>
              <a:t> </a:t>
            </a:r>
            <a:r>
              <a:rPr lang="en-US" sz="1200" dirty="0" err="1"/>
              <a:t>kreatif</a:t>
            </a:r>
            <a:r>
              <a:rPr lang="en-US" sz="1200" dirty="0"/>
              <a:t>. </a:t>
            </a:r>
            <a:r>
              <a:rPr lang="en-US" sz="1200" dirty="0" err="1"/>
              <a:t>Lingkungan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 yang </a:t>
            </a:r>
            <a:r>
              <a:rPr lang="en-US" sz="1200" dirty="0" err="1"/>
              <a:t>disukai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tipe</a:t>
            </a:r>
            <a:r>
              <a:rPr lang="en-US" sz="1200" dirty="0"/>
              <a:t> </a:t>
            </a:r>
            <a:r>
              <a:rPr lang="en-US" sz="1200" dirty="0" err="1"/>
              <a:t>konvensional</a:t>
            </a:r>
            <a:r>
              <a:rPr lang="en-US" sz="1200" dirty="0"/>
              <a:t> </a:t>
            </a:r>
            <a:r>
              <a:rPr lang="en-US" sz="1200" dirty="0" err="1"/>
              <a:t>memupuk</a:t>
            </a:r>
            <a:r>
              <a:rPr lang="en-US" sz="1200" dirty="0"/>
              <a:t> </a:t>
            </a:r>
            <a:r>
              <a:rPr lang="en-US" sz="1200" dirty="0" err="1"/>
              <a:t>kompetensi</a:t>
            </a:r>
            <a:r>
              <a:rPr lang="en-US" sz="1200" dirty="0"/>
              <a:t> </a:t>
            </a:r>
            <a:r>
              <a:rPr lang="en-US" sz="1200" dirty="0" err="1"/>
              <a:t>organisasi</a:t>
            </a:r>
            <a:r>
              <a:rPr lang="en-US" sz="1200" dirty="0"/>
              <a:t>,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pencatatan</a:t>
            </a:r>
            <a:r>
              <a:rPr lang="en-US" sz="1200" dirty="0"/>
              <a:t> dan </a:t>
            </a:r>
            <a:r>
              <a:rPr lang="en-US" sz="1200" dirty="0" err="1"/>
              <a:t>pengelolaan</a:t>
            </a:r>
            <a:r>
              <a:rPr lang="en-US" sz="1200" dirty="0"/>
              <a:t> data, </a:t>
            </a:r>
            <a:r>
              <a:rPr lang="en-US" sz="1200" dirty="0" err="1"/>
              <a:t>dalam</a:t>
            </a:r>
            <a:r>
              <a:rPr lang="en-US" sz="1200" dirty="0"/>
              <a:t> </a:t>
            </a:r>
            <a:r>
              <a:rPr lang="en-US" sz="1200" dirty="0" err="1"/>
              <a:t>operasi</a:t>
            </a:r>
            <a:r>
              <a:rPr lang="en-US" sz="1200" dirty="0"/>
              <a:t> </a:t>
            </a:r>
            <a:r>
              <a:rPr lang="en-US" sz="1200" dirty="0" err="1"/>
              <a:t>terstruktur</a:t>
            </a:r>
            <a:r>
              <a:rPr lang="en-US" sz="1200" dirty="0"/>
              <a:t> dan </a:t>
            </a:r>
            <a:r>
              <a:rPr lang="en-US" sz="1200" dirty="0" err="1"/>
              <a:t>menjunjung</a:t>
            </a:r>
            <a:r>
              <a:rPr lang="en-US" sz="1200" dirty="0"/>
              <a:t> </a:t>
            </a:r>
            <a:r>
              <a:rPr lang="en-US" sz="1200" dirty="0" err="1"/>
              <a:t>tinggi</a:t>
            </a:r>
            <a:r>
              <a:rPr lang="en-US" sz="1200" dirty="0"/>
              <a:t> </a:t>
            </a:r>
            <a:r>
              <a:rPr lang="en-US" sz="1200" dirty="0" err="1"/>
              <a:t>kesesuaian</a:t>
            </a:r>
            <a:r>
              <a:rPr lang="en-US" sz="1200" dirty="0"/>
              <a:t> dan </a:t>
            </a:r>
            <a:r>
              <a:rPr lang="en-US" sz="1200" dirty="0" err="1"/>
              <a:t>ketergantungan</a:t>
            </a:r>
            <a:r>
              <a:rPr lang="en-US" sz="1200" dirty="0"/>
              <a:t>. </a:t>
            </a:r>
            <a:r>
              <a:rPr lang="en-US" sz="1200" dirty="0" err="1"/>
              <a:t>Karier</a:t>
            </a:r>
            <a:r>
              <a:rPr lang="en-US" sz="1200" dirty="0"/>
              <a:t> </a:t>
            </a:r>
            <a:r>
              <a:rPr lang="en-US" sz="1200" dirty="0" err="1"/>
              <a:t>konvensional</a:t>
            </a:r>
            <a:r>
              <a:rPr lang="en-US" sz="1200" dirty="0"/>
              <a:t> yang </a:t>
            </a:r>
            <a:r>
              <a:rPr lang="en-US" sz="1200" dirty="0" err="1"/>
              <a:t>umum</a:t>
            </a:r>
            <a:r>
              <a:rPr lang="en-US" sz="1200" dirty="0"/>
              <a:t> </a:t>
            </a:r>
            <a:r>
              <a:rPr lang="en-US" sz="1200" dirty="0" err="1"/>
              <a:t>termasuk</a:t>
            </a:r>
            <a:r>
              <a:rPr lang="en-US" sz="1200" dirty="0"/>
              <a:t> </a:t>
            </a:r>
            <a:r>
              <a:rPr lang="en-US" sz="1200" dirty="0" err="1"/>
              <a:t>sekretaris</a:t>
            </a:r>
            <a:r>
              <a:rPr lang="en-US" sz="1200" dirty="0"/>
              <a:t>, </a:t>
            </a:r>
            <a:r>
              <a:rPr lang="en-US" sz="1200" dirty="0" err="1"/>
              <a:t>akuntan</a:t>
            </a:r>
            <a:r>
              <a:rPr lang="en-US" sz="1200" dirty="0"/>
              <a:t>, dan </a:t>
            </a:r>
            <a:r>
              <a:rPr lang="en-US" sz="1200" dirty="0" err="1"/>
              <a:t>bankir</a:t>
            </a:r>
            <a:r>
              <a:rPr lang="en-US" sz="120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F67D64-01BC-9839-72BC-E3E59BA6D622}"/>
              </a:ext>
            </a:extLst>
          </p:cNvPr>
          <p:cNvSpPr txBox="1">
            <a:spLocks/>
          </p:cNvSpPr>
          <p:nvPr/>
        </p:nvSpPr>
        <p:spPr>
          <a:xfrm>
            <a:off x="838200" y="205540"/>
            <a:ext cx="10515600" cy="10185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Profiling </a:t>
            </a:r>
            <a:r>
              <a:rPr lang="en-US" sz="3200" b="1" dirty="0" err="1"/>
              <a:t>Potensi</a:t>
            </a:r>
            <a:r>
              <a:rPr lang="en-US" sz="3200" b="1" dirty="0"/>
              <a:t> </a:t>
            </a:r>
            <a:r>
              <a:rPr lang="en-US" sz="3200" b="1" dirty="0" err="1"/>
              <a:t>Minat</a:t>
            </a:r>
            <a:r>
              <a:rPr lang="en-US" sz="3200" b="1" dirty="0"/>
              <a:t>, </a:t>
            </a:r>
            <a:r>
              <a:rPr lang="en-US" sz="3200" b="1" dirty="0" err="1"/>
              <a:t>Bakat</a:t>
            </a:r>
            <a:r>
              <a:rPr lang="en-US" sz="3200" b="1" dirty="0"/>
              <a:t> dan </a:t>
            </a:r>
            <a:r>
              <a:rPr lang="en-US" sz="3200" b="1" dirty="0" err="1"/>
              <a:t>Pilihan</a:t>
            </a:r>
            <a:r>
              <a:rPr lang="en-US" sz="3200" b="1" dirty="0"/>
              <a:t> </a:t>
            </a:r>
            <a:r>
              <a:rPr lang="en-US" sz="3200" b="1" dirty="0" err="1"/>
              <a:t>Pekerjaan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530171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B3897-B0A1-39C0-F961-8B558789F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Kategori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Pekerjaan</a:t>
            </a:r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D5FB0-F067-E467-18B5-7CDC9F1C81F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13593"/>
            <a:ext cx="10515600" cy="365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 fontAlgn="base">
              <a:buNone/>
            </a:pPr>
            <a:r>
              <a:rPr lang="en-ID" sz="8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1. Realistic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kepribadian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biasanya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lebih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condong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penerapan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nih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sobat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!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Misalnya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berhubungan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dengan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alat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mesin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benda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binatang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dan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tanaman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.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Ciri-ciri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dari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yaitu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mengutamakan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keberanian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kekuatan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otot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dan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fisik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mempunyai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kecakapan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dan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koordinasi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motorik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kuat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.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Nah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lebih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menyukai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praktek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daripada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teori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sobat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!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Selain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itu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pandai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dalam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hal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berhubungan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dengan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komputer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pemrograman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dan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matematika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.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Jurusan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cocok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untuk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realistic :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1.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Olahraga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2.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Kehutanan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3.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Kedokteran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Hewan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4.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Perikanan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5.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Otomotif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6.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Farmasi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7.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Pertanian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8. Teknik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Sipil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9. Teknik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Mesin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10. Teknik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Elektro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 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2. Investigative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Biasanya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cenderung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akademik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sobat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!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juga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memiliki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intelektual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tinggi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.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Ciri-ciri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dari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yaitu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mempunyai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rasa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keingintahuan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tinggi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lebih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memikirkan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atau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merenungkan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daripada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mengatasinya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dalam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memecahkan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suatu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masalah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.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Jurusan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tepat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untuk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Investigative :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1. Kimia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2. Sastra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Inggris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3.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Sistem</a:t>
            </a: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Informasi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4.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Psikologi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5.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Kriminologi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6.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Fisika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7.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Biologi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8. </a:t>
            </a:r>
            <a:r>
              <a:rPr lang="en-ID" sz="800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Gizi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00000"/>
              </a:lnSpc>
              <a:spcBef>
                <a:spcPts val="0"/>
              </a:spcBef>
              <a:buNone/>
            </a:pPr>
            <a:r>
              <a:rPr lang="en-ID" sz="800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 </a:t>
            </a:r>
            <a:endParaRPr lang="en-ID" sz="800" b="0" i="0" u="none" strike="noStrike" dirty="0">
              <a:solidFill>
                <a:srgbClr val="656565"/>
              </a:solidFill>
              <a:effectLst/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2136453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17C6A-395C-8816-4C52-65D4033B3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87B3D-70B8-A500-CA71-2DC4889C1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3. Artistic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Lalu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kita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beranjak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artistic. Orang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dengan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kepribadian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lebih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suka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berhubungan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dengan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orang lain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secara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langsung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atau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kita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sebut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sebagai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orang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bersifat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sosial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dan sastra.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Selain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itu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bisa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menyesuaikan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diri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dengan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berbagai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keadaan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loh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sobat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!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Jurusan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berhubungan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dengan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artistic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yaitu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: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1.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Jurnalistik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2. Tata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boga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3.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Bimbingan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Konseling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4. Teknik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Informatika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5.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Rupa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6.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Tari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7. Desain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Komunikasi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Visual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8. Desain Interior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9.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Arsitektur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10.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Musik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11. Bahasa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 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4. Social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social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cenderung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berhubungan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dengan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orang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banyak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akan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turun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langsung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untuk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membantu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sesama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.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Ciri-ciri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dari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yaitu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pandai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bergaul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dan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berbicara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bertanggung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jawab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kemanusiaan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dan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lebih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berorientasi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pada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perasaan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.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Jurusan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sesuai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untuk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social :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1.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Kedokteran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2.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Psikologi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3.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Bimbingan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Konseling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4.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Ilmu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Komunikasi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5. Hukum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6. Pendidikan Guru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Sekolah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Dasar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7.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Farmasi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8.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Hubungan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Internasional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9.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Sosiologi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300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1FA25-1528-096F-CD18-C30FA9528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A03AC-30E4-8547-477D-7B10A8BC8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5. Enterprising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Selanjutnya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untuk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kepribadian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enterprising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nih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disebut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sebagai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persuasif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memiliki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jiwa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kepemimpinan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baik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cenderung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ambisius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tegas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dan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mudah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dimengerti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. Orang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dengan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seperti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suka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memengaruhi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seseorang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dengan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hal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positif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dikenal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juga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sebagai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orang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hebat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dalam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hal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berkomunikasi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.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Jurusan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paling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cocok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untuk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seperti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yaitu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: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1.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Manajemen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2.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Ilmu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Pemerintahan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3. Teknik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Industri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4.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Ilmu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Komunikasi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5.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Hubungan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Internasional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6.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Bisnis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7. Marketing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Komunikasi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 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6. Conventional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Nah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untuk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terakhir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kita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sebut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sebagai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pengorganisir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biasanya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orang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suka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bekerja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secara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terorganisir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atau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detail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karena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menginkan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akurasi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tujuan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tinggi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sobat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!,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lalu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orang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dengan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teliti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dalam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mengikuti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prosedur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telah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diberikan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Biasanya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menyukai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hal-hal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berhubungan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dengan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angka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ataupun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data.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Jurusan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cocok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untuk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yaitu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: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1.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Akuntansi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2.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Statistik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3.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Administrasi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4. Teknik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Informatika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5.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Manajemen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Keuangan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6.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Matematika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7.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Ilmu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Perpustakaan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 algn="just" fontAlgn="base">
              <a:lnSpc>
                <a:spcPct val="120000"/>
              </a:lnSpc>
              <a:spcBef>
                <a:spcPts val="0"/>
              </a:spcBef>
              <a:buNone/>
            </a:pP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8.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Ilmu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Komputasi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A6C47-454F-F169-86CE-89F650A90AA4}"/>
              </a:ext>
            </a:extLst>
          </p:cNvPr>
          <p:cNvSpPr txBox="1"/>
          <p:nvPr/>
        </p:nvSpPr>
        <p:spPr>
          <a:xfrm>
            <a:off x="3050005" y="-11436608"/>
            <a:ext cx="6100010" cy="9787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 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5. Enterprising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Selanjutnya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untuk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kepribadian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enterprising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nih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disebut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sebagai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persuasif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memiliki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jiwa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kepemimpinan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baik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cenderung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ambisius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tegas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dan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mudah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dimengerti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. Orang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dengan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seperti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suka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memengaruhi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seseorang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dengan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hal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positif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dikenal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juga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sebagai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orang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hebat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dalam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hal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berkomunikasi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.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Jurusan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paling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cocok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untuk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seperti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yaitu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: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1.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Manajemen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2.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Ilmu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Pemerintahan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3. Teknik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Industri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4.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Ilmu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Komunikasi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5.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Hubungan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Internasional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6.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Bisnis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7. Marketing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Komunikasi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 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6. Conventional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Nah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untuk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terakhir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,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kita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sebut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sebagai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pengorganisir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biasanya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orang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suka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bekerja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secara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terorganisir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atau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detail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karena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menginkan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akurasi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tujuan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tinggi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sobat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!,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lalu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orang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dengan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teliti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dalam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mengikuti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prosedur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telah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diberikan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Biasanya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menyukai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hal-hal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berhubungan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dengan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angka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ataupun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data.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Jurusan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yang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cocok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untuk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tipe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ini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yaitu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: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1.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Akuntansi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2.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Statistik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3.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Administrasi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4. Teknik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Informatika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5.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Manajemen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Keuangan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6.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Matematika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7.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Ilmu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Perpustakaan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8.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Ilmu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D" b="0" i="0" u="none" strike="noStrike" dirty="0" err="1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Komputasi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  <a:p>
            <a:pPr algn="just" fontAlgn="base"/>
            <a:r>
              <a:rPr lang="en-ID" b="0" i="0" u="none" strike="noStrike" dirty="0">
                <a:solidFill>
                  <a:srgbClr val="656565"/>
                </a:solidFill>
                <a:effectLst/>
                <a:latin typeface="Calibri" panose="020F0502020204030204" pitchFamily="34" charset="0"/>
              </a:rPr>
              <a:t> </a:t>
            </a:r>
            <a:endParaRPr lang="en-ID" b="0" i="0" u="none" strike="noStrike" dirty="0">
              <a:solidFill>
                <a:srgbClr val="656565"/>
              </a:solidFill>
              <a:effectLst/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3554752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2951</Words>
  <Application>Microsoft Macintosh PowerPoint</Application>
  <PresentationFormat>Widescreen</PresentationFormat>
  <Paragraphs>186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Google Sans</vt:lpstr>
      <vt:lpstr>Helvetica</vt:lpstr>
      <vt:lpstr>Manrope</vt:lpstr>
      <vt:lpstr>Office Theme</vt:lpstr>
      <vt:lpstr>Profiling &amp; Assesment</vt:lpstr>
      <vt:lpstr>Profiling Potensi Minat &amp; Bakat</vt:lpstr>
      <vt:lpstr>Profiling Potensi Minat &amp; Bakat</vt:lpstr>
      <vt:lpstr>PowerPoint Presentation</vt:lpstr>
      <vt:lpstr>Profiling Potensi Minat, Bakat dan Pilihan Pekerjaan</vt:lpstr>
      <vt:lpstr>PowerPoint Presentation</vt:lpstr>
      <vt:lpstr>Kategori Jenis Pekerjaan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Profiling &amp; Assesment</dc:title>
  <dc:creator>Microsoft Office User</dc:creator>
  <cp:lastModifiedBy>Microsoft Office User</cp:lastModifiedBy>
  <cp:revision>14</cp:revision>
  <dcterms:created xsi:type="dcterms:W3CDTF">2024-04-16T02:47:56Z</dcterms:created>
  <dcterms:modified xsi:type="dcterms:W3CDTF">2024-04-24T16:24:43Z</dcterms:modified>
</cp:coreProperties>
</file>